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6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9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7" r:id="rId1"/>
  </p:sldMasterIdLst>
  <p:notesMasterIdLst>
    <p:notesMasterId r:id="rId27"/>
  </p:notesMasterIdLst>
  <p:handoutMasterIdLst>
    <p:handoutMasterId r:id="rId28"/>
  </p:handoutMasterIdLst>
  <p:sldIdLst>
    <p:sldId id="4249" r:id="rId2"/>
    <p:sldId id="4243" r:id="rId3"/>
    <p:sldId id="4244" r:id="rId4"/>
    <p:sldId id="4251" r:id="rId5"/>
    <p:sldId id="4267" r:id="rId6"/>
    <p:sldId id="4268" r:id="rId7"/>
    <p:sldId id="4252" r:id="rId8"/>
    <p:sldId id="4245" r:id="rId9"/>
    <p:sldId id="4253" r:id="rId10"/>
    <p:sldId id="4254" r:id="rId11"/>
    <p:sldId id="4255" r:id="rId12"/>
    <p:sldId id="4256" r:id="rId13"/>
    <p:sldId id="4258" r:id="rId14"/>
    <p:sldId id="4246" r:id="rId15"/>
    <p:sldId id="4257" r:id="rId16"/>
    <p:sldId id="4259" r:id="rId17"/>
    <p:sldId id="4260" r:id="rId18"/>
    <p:sldId id="4261" r:id="rId19"/>
    <p:sldId id="4262" r:id="rId20"/>
    <p:sldId id="4269" r:id="rId21"/>
    <p:sldId id="4270" r:id="rId22"/>
    <p:sldId id="4264" r:id="rId23"/>
    <p:sldId id="4265" r:id="rId24"/>
    <p:sldId id="4266" r:id="rId25"/>
    <p:sldId id="4250" r:id="rId26"/>
  </p:sldIdLst>
  <p:sldSz cx="12858750" cy="7232650"/>
  <p:notesSz cx="6858000" cy="9144000"/>
  <p:custDataLst>
    <p:tags r:id="rId2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39763" indent="-1825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638" indent="-5540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" userDrawn="1">
          <p15:clr>
            <a:srgbClr val="A4A3A4"/>
          </p15:clr>
        </p15:guide>
        <p15:guide id="2" pos="4050" userDrawn="1">
          <p15:clr>
            <a:srgbClr val="A4A3A4"/>
          </p15:clr>
        </p15:guide>
        <p15:guide id="3" pos="557" userDrawn="1">
          <p15:clr>
            <a:srgbClr val="A4A3A4"/>
          </p15:clr>
        </p15:guide>
        <p15:guide id="5" orient="horz" pos="4183" userDrawn="1">
          <p15:clr>
            <a:srgbClr val="A4A3A4"/>
          </p15:clr>
        </p15:guide>
        <p15:guide id="6" pos="7497" userDrawn="1">
          <p15:clr>
            <a:srgbClr val="A4A3A4"/>
          </p15:clr>
        </p15:guide>
        <p15:guide id="7" pos="69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2744"/>
    <a:srgbClr val="29ABE2"/>
    <a:srgbClr val="4BC1DD"/>
    <a:srgbClr val="FFC000"/>
    <a:srgbClr val="5CBA46"/>
    <a:srgbClr val="00939F"/>
    <a:srgbClr val="DC5B3E"/>
    <a:srgbClr val="4B5C6E"/>
    <a:srgbClr val="005490"/>
    <a:srgbClr val="57CE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17" autoAdjust="0"/>
    <p:restoredTop sz="95274" autoAdjust="0"/>
  </p:normalViewPr>
  <p:slideViewPr>
    <p:cSldViewPr>
      <p:cViewPr varScale="1">
        <p:scale>
          <a:sx n="59" d="100"/>
          <a:sy n="59" d="100"/>
        </p:scale>
        <p:origin x="72" y="954"/>
      </p:cViewPr>
      <p:guideLst>
        <p:guide orient="horz" pos="328"/>
        <p:guide pos="4050"/>
        <p:guide pos="557"/>
        <p:guide orient="horz" pos="4183"/>
        <p:guide pos="7497"/>
        <p:guide pos="6908"/>
      </p:guideLst>
    </p:cSldViewPr>
  </p:slideViewPr>
  <p:outlineViewPr>
    <p:cViewPr>
      <p:scale>
        <a:sx n="100" d="100"/>
        <a:sy n="100" d="100"/>
      </p:scale>
      <p:origin x="0" y="-10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279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6600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pPr>
                <a:defRPr/>
              </a:pPr>
              <a:t>2025/12/19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40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493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6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788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706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EF2083-0386-4B43-BE3F-5071C6BB4FA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043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397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43F3F-62EE-A836-7592-B96D5CB2B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CD874A-423C-2B1F-5C3C-FD4B6CE6D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6B5FE0-DD1B-B8F6-50ED-1B79A9B75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80B6E-894B-1BB9-C727-6859BF80D9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03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86A65-F69B-CE18-0D0C-945039B32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BB9A8-6245-3DAD-B6C5-76A629E76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E681A9-83A7-2229-7AA5-BD83BC37C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FF537-57A8-F1A4-9617-7F6B46A7B1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28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003C1-6169-A054-E1B8-52762CBE8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61AC00-E916-B07B-7970-D0A45E1F7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E2EBA9-3AB2-6118-9C03-F3F2BC149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7E8E2F-8F8E-7EDE-9CD4-BF3328E2C0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822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1CDF6-C20D-5A32-E304-24A992AEA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A6D30-3D7C-15EA-A5CF-9CEF933C1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3D7F06-25DB-66D7-51E4-8CBB3E5C2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53AC2-8EEA-F422-0E62-DEFCAF0D5B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48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949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FAB90-E8A1-CFD5-06A7-AA385F40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2E91E-C427-8C6B-E3BE-2F69A342F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88708-4FFA-76AF-4FB8-4DBA1A13B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C0916-500D-3916-370E-F4154E6C2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42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F14ED-40EF-86D2-241C-36ED4895D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6BEA10-A530-898D-2149-3913E04DB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AEE12-732F-25CF-9457-280B8A840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15D4F-0A83-F875-B23B-DF78BB7FE0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69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BFBD8-4D9F-7769-5BC3-CC01BC57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829189-F23F-5AF2-C650-AA7B7FA08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1FDE69-2004-8DC6-0D09-4DA60AC6B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5C6A4-023F-B865-34B4-31B66E484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135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35171-9598-F6E4-D3BA-A31FBB4E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B5F2D0-ED07-118C-976D-BA4B6F09D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4B839C-7870-B5AB-D22F-347F2514E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013C0-5C8E-260C-E0D9-D6120D9D5B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741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CE2A2-822C-22AB-A4B0-7E767DC5C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7A8536-BDE8-A258-7AFD-6CCFB92E1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628A93-9E0D-8F5A-BD72-3E704DB4B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B00CB-E17E-2E3C-39F9-FDF19AB0C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821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8789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286BE-82FB-39B4-C45F-219B68214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A893A-0FA0-9D44-A8E1-1AC9D399B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203F8-C874-02DB-9514-DAAAC70F1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0D7F2-731D-A1FA-A681-103102C406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555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4D997-8F15-92E1-C199-8BF8EBB7F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5A737-00D6-6D85-99C6-97A93AA92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517EEA-D1AD-DCED-AC28-E6428069F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3A5E6-EF84-F4F4-4A4F-99C55CC55E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46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AE748-2043-D795-FA4E-4E2C81F39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06AC6-F0BA-5C71-DFE6-732EF21C3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02C4C4-175B-CAE4-EA55-7B84853D2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0D96B-1854-D799-B0D1-C92DE8E23E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689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D533A-29A4-E7B0-8B84-4B338BB06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53E958-D3B9-C390-81D7-FA578B5AA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FD7BE-C4AA-AE82-A865-2FC20AC5D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E7A51-C769-F7AF-ACA8-B423172917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089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173C8-1D47-79E8-CC2D-D8095E319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2A47C4-16DE-458D-C103-1D5F019ED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1611AF-B153-F84D-6451-374E57216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F8A58E-7CC6-F86E-9568-F81397336E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903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4CE04-DC89-3785-212D-D24FA62FF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985DF-8B54-F80D-755C-B3FA7E8BA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C08E6-AE2D-D684-8FC6-F1975FC69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98111-1375-8BE2-E3C5-62E72C7C4F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253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5E9DB-BE18-AAC1-C94B-5CC8D51A4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0BEE74-D3EB-1954-7759-A33E45B07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EB423F-605E-26E7-77BE-9316FDAFD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0AFA21-360C-EB05-A563-E080F264E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8333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4B17F-3C96-C9ED-366A-3C626F085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516BE7-F03E-466F-26A5-7905EDD95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02502-A514-4AD0-C4EA-D966FEF08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A40A5-364E-5F3D-5ECC-A13812E65C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4730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7DC1C-D88E-2685-E994-270D66033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B12114-67BE-7D75-389E-2F47A7E00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FC691F-7CA9-8E2F-CC6E-A9B7D6F45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63E4E-58AF-B515-1E3B-693B01D1DA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583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5FD20-5F0B-E7B3-16C0-B62746277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2EDBA-C59F-8003-276C-2BC63270E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70B7F-89DE-48C6-9C5C-C6328EDA3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A72FE-77FD-A44F-19B8-92AA15248F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219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172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288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354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238" y="385763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82D2-7A68-459D-A996-9BDDA2518FA4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05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notesSlide" Target="../notesSlides/notesSlide2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4082670"/>
            <a:ext cx="12858750" cy="31842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矩形 259"/>
          <p:cNvSpPr>
            <a:spLocks noChangeArrowheads="1"/>
          </p:cNvSpPr>
          <p:nvPr/>
        </p:nvSpPr>
        <p:spPr bwMode="auto">
          <a:xfrm>
            <a:off x="3714750" y="6412077"/>
            <a:ext cx="54292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1600" dirty="0">
                <a:solidFill>
                  <a:schemeClr val="bg1"/>
                </a:solidFill>
                <a:cs typeface="Arial" panose="020B0604020202020204" pitchFamily="34" charset="0"/>
              </a:rPr>
              <a:t>第四组 王子文 </a:t>
            </a:r>
            <a:r>
              <a:rPr lang="zh-CN" altLang="zh-CN" sz="1600" dirty="0">
                <a:solidFill>
                  <a:schemeClr val="bg1"/>
                </a:solidFill>
                <a:cs typeface="Arial" panose="020B0604020202020204" pitchFamily="34" charset="0"/>
              </a:rPr>
              <a:t>郑瀚 钟习伟  吴瀚文  史文康</a:t>
            </a:r>
            <a:endParaRPr lang="zh-CN" altLang="en-US" sz="1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1" name="矩形 259"/>
          <p:cNvSpPr>
            <a:spLocks noChangeArrowheads="1"/>
          </p:cNvSpPr>
          <p:nvPr/>
        </p:nvSpPr>
        <p:spPr bwMode="auto">
          <a:xfrm>
            <a:off x="2468935" y="5222698"/>
            <a:ext cx="812890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zh-CN" b="1" dirty="0">
                <a:solidFill>
                  <a:schemeClr val="bg1"/>
                </a:solidFill>
              </a:rPr>
              <a:t>个人媒体资源管理系统</a:t>
            </a:r>
            <a:endParaRPr lang="zh-CN" altLang="zh-CN" sz="6000" dirty="0">
              <a:solidFill>
                <a:schemeClr val="bg1"/>
              </a:solidFill>
              <a:effectLst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0"/>
            <a:ext cx="12858750" cy="4082670"/>
          </a:xfrm>
          <a:prstGeom prst="rect">
            <a:avLst/>
          </a:prstGeom>
          <a:solidFill>
            <a:schemeClr val="accent2"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895" y="4866099"/>
            <a:ext cx="1302383" cy="120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084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0">
        <p15:prstTrans prst="fractur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5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50"/>
                            </p:stCondLst>
                            <p:childTnLst>
                              <p:par>
                                <p:cTn id="2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50"/>
                            </p:stCondLst>
                            <p:childTnLst>
                              <p:par>
                                <p:cTn id="2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/>
      <p:bldP spid="10" grpId="1"/>
      <p:bldP spid="11" grpId="0"/>
      <p:bldP spid="11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SubTitle_4"/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6506239" y="4869707"/>
            <a:ext cx="4395530" cy="68137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lIns="0" tIns="0" rIns="0" bIns="0" anchor="ctr" anchorCtr="1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lvl="0" algn="ctr">
              <a:buNone/>
            </a:pP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物理结构设计</a:t>
            </a:r>
            <a:endParaRPr lang="zh-CN" altLang="en-US" sz="105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Other_1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3847718" y="2147567"/>
            <a:ext cx="2467672" cy="1299127"/>
          </a:xfrm>
          <a:prstGeom prst="line">
            <a:avLst/>
          </a:prstGeom>
          <a:noFill/>
          <a:ln w="38100" cap="rnd">
            <a:solidFill>
              <a:schemeClr val="accent1">
                <a:lumMod val="40000"/>
                <a:lumOff val="60000"/>
              </a:schemeClr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normAutofit fontScale="25000" lnSpcReduction="20000"/>
          </a:bodyPr>
          <a:lstStyle/>
          <a:p>
            <a:pPr>
              <a:defRPr/>
            </a:pPr>
            <a:endParaRPr lang="zh-CN" altLang="en-US" sz="2002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MH_Other_2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V="1">
            <a:off x="3847718" y="3150373"/>
            <a:ext cx="2482740" cy="385051"/>
          </a:xfrm>
          <a:prstGeom prst="line">
            <a:avLst/>
          </a:prstGeom>
          <a:noFill/>
          <a:ln w="38100" cap="rnd">
            <a:solidFill>
              <a:schemeClr val="accent1">
                <a:lumMod val="40000"/>
                <a:lumOff val="60000"/>
              </a:schemeClr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normAutofit fontScale="25000" lnSpcReduction="20000"/>
          </a:bodyPr>
          <a:lstStyle/>
          <a:p>
            <a:pPr>
              <a:defRPr/>
            </a:pPr>
            <a:endParaRPr lang="zh-CN" altLang="en-US" sz="2002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MH_Other_3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3944817" y="3669353"/>
            <a:ext cx="2370573" cy="369984"/>
          </a:xfrm>
          <a:prstGeom prst="line">
            <a:avLst/>
          </a:prstGeom>
          <a:noFill/>
          <a:ln w="38100" cap="rnd">
            <a:solidFill>
              <a:schemeClr val="accent1">
                <a:lumMod val="40000"/>
                <a:lumOff val="60000"/>
              </a:schemeClr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normAutofit fontScale="25000" lnSpcReduction="20000"/>
          </a:bodyPr>
          <a:lstStyle/>
          <a:p>
            <a:pPr>
              <a:defRPr/>
            </a:pPr>
            <a:endParaRPr lang="zh-CN" altLang="en-US" sz="2002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MH_Other_4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4075399" y="3855184"/>
            <a:ext cx="2271799" cy="1325913"/>
          </a:xfrm>
          <a:prstGeom prst="line">
            <a:avLst/>
          </a:prstGeom>
          <a:noFill/>
          <a:ln w="38100" cap="rnd">
            <a:solidFill>
              <a:schemeClr val="accent1">
                <a:lumMod val="40000"/>
                <a:lumOff val="60000"/>
              </a:schemeClr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normAutofit fontScale="25000" lnSpcReduction="20000"/>
          </a:bodyPr>
          <a:lstStyle/>
          <a:p>
            <a:pPr>
              <a:defRPr/>
            </a:pPr>
            <a:endParaRPr lang="zh-CN" altLang="en-US" sz="2002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MH_SubTitle_1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6506239" y="1760843"/>
            <a:ext cx="4395530" cy="68304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lIns="0" tIns="0" rIns="0" bIns="0" anchor="ctr" anchorCtr="1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buNone/>
            </a:pP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需求分析</a:t>
            </a:r>
            <a:endParaRPr lang="zh-CN" altLang="en-US" sz="105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MH_SubTitle_2"/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6506239" y="2797132"/>
            <a:ext cx="4395530" cy="68304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lIns="0" tIns="0" rIns="0" bIns="0" anchor="ctr" anchorCtr="1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lvl="0" algn="ctr">
              <a:buNone/>
            </a:pP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概念结构设计</a:t>
            </a:r>
            <a:endParaRPr lang="zh-CN" altLang="en-US" sz="105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MH_SubTitle_3"/>
          <p:cNvSpPr>
            <a:spLocks noChangeArrowheads="1"/>
          </p:cNvSpPr>
          <p:nvPr>
            <p:custDataLst>
              <p:tags r:id="rId9"/>
            </p:custDataLst>
          </p:nvPr>
        </p:nvSpPr>
        <p:spPr bwMode="gray">
          <a:xfrm>
            <a:off x="6506239" y="3833420"/>
            <a:ext cx="4395530" cy="6813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lIns="0" tIns="0" rIns="0" bIns="0" anchor="ctr" anchorCtr="1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lvl="0" algn="ctr">
              <a:buNone/>
            </a:pP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逻辑结构设计</a:t>
            </a:r>
            <a:endParaRPr lang="zh-CN" altLang="en-US" sz="105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MH_Other_5"/>
          <p:cNvSpPr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1758308" y="2308364"/>
            <a:ext cx="2606465" cy="26064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lIns="0" tIns="0" rIns="0" bIns="0" anchor="ctr" anchorCtr="1">
            <a:normAutofit/>
          </a:bodyPr>
          <a:lstStyle>
            <a:lvl1pPr eaLnBrk="0" hangingPunct="0">
              <a:spcBef>
                <a:spcPct val="20000"/>
              </a:spcBef>
              <a:buChar char="•"/>
              <a:defRPr kumimoji="1"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  <a:defRPr/>
            </a:pPr>
            <a:endParaRPr lang="zh-TW" altLang="en-US" sz="2531" b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MH_Title_1"/>
          <p:cNvSpPr/>
          <p:nvPr>
            <p:custDataLst>
              <p:tags r:id="rId11"/>
            </p:custDataLst>
          </p:nvPr>
        </p:nvSpPr>
        <p:spPr>
          <a:xfrm>
            <a:off x="2049357" y="2599413"/>
            <a:ext cx="2026043" cy="202604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Autofit/>
          </a:bodyPr>
          <a:lstStyle/>
          <a:p>
            <a:pPr algn="ctr">
              <a:defRPr/>
            </a:pPr>
            <a:r>
              <a:rPr lang="zh-CN" altLang="en-US" sz="540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目录</a:t>
            </a:r>
            <a:endParaRPr lang="zh-TW" altLang="en-US" sz="5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MH_Other_4">
            <a:extLst>
              <a:ext uri="{FF2B5EF4-FFF2-40B4-BE49-F238E27FC236}">
                <a16:creationId xmlns:a16="http://schemas.microsoft.com/office/drawing/2014/main" id="{A768468C-481E-7A09-2C2E-891FC67A1E37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3829437" y="4507516"/>
            <a:ext cx="2467672" cy="2026043"/>
          </a:xfrm>
          <a:prstGeom prst="line">
            <a:avLst/>
          </a:prstGeom>
          <a:noFill/>
          <a:ln w="38100" cap="rnd">
            <a:solidFill>
              <a:schemeClr val="accent1">
                <a:lumMod val="40000"/>
                <a:lumOff val="60000"/>
              </a:schemeClr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normAutofit fontScale="25000" lnSpcReduction="20000"/>
          </a:bodyPr>
          <a:lstStyle/>
          <a:p>
            <a:pPr>
              <a:defRPr/>
            </a:pPr>
            <a:endParaRPr lang="zh-CN" altLang="en-US" sz="2002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MH_SubTitle_3">
            <a:extLst>
              <a:ext uri="{FF2B5EF4-FFF2-40B4-BE49-F238E27FC236}">
                <a16:creationId xmlns:a16="http://schemas.microsoft.com/office/drawing/2014/main" id="{EA87CE8B-D2B0-88F0-AC33-A692C25F3939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gray">
          <a:xfrm>
            <a:off x="6506239" y="6064597"/>
            <a:ext cx="4395530" cy="6813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lIns="0" tIns="0" rIns="0" bIns="0" anchor="ctr" anchorCtr="1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lvl="0" algn="ctr">
              <a:buNone/>
            </a:pP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应用系统设计</a:t>
            </a:r>
            <a:endParaRPr lang="zh-CN" altLang="en-US" sz="105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14290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eelOff"/>
      </p:transition>
    </mc:Choice>
    <mc:Fallback xmlns="">
      <p:transition spd="slow" advTm="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" fill="hold">
                          <p:stCondLst>
                            <p:cond delay="indefinite"/>
                          </p:stCondLst>
                          <p:childTnLst>
                            <p:par>
                              <p:cTn id="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1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2" presetClass="entr" presetSubtype="8" accel="40000" fill="hold" grpId="0" nodeType="click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6" dur="1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7" dur="1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8" fill="hold">
                          <p:stCondLst>
                            <p:cond delay="indefinite"/>
                          </p:stCondLst>
                          <p:childTnLst>
                            <p:par>
                              <p:cTn id="2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0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3" fill="hold">
                          <p:stCondLst>
                            <p:cond delay="indefinite"/>
                          </p:stCondLst>
                          <p:childTnLst>
                            <p:par>
                              <p:cTn id="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5" presetID="2" presetClass="entr" presetSubtype="8" accel="40000" fill="hold" grpId="0" nodeType="click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7" dur="1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8" dur="1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3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" presetClass="entr" presetSubtype="8" accel="40000" fill="hold" grpId="0" nodeType="click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8" dur="1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9" dur="1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0" fill="hold">
                          <p:stCondLst>
                            <p:cond delay="indefinite"/>
                          </p:stCondLst>
                          <p:childTnLst>
                            <p:par>
                              <p:cTn id="5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2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2" presetClass="entr" presetSubtype="8" accel="40000" fill="hold" grpId="0" nodeType="click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9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60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1" fill="hold">
                          <p:stCondLst>
                            <p:cond delay="indefinite"/>
                          </p:stCondLst>
                          <p:childTnLst>
                            <p:par>
                              <p:cTn id="6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3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5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6" fill="hold">
                          <p:stCondLst>
                            <p:cond delay="indefinite"/>
                          </p:stCondLst>
                          <p:childTnLst>
                            <p:par>
                              <p:cTn id="6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8" presetID="2" presetClass="entr" presetSubtype="8" accel="40000" fill="hold" grpId="0" nodeType="click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0" dur="1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71" dur="1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5" grpId="0" animBg="1"/>
          <p:bldP spid="6" grpId="0" animBg="1"/>
          <p:bldP spid="7" grpId="0" animBg="1"/>
          <p:bldP spid="8" grpId="0" animBg="1"/>
          <p:bldP spid="9" grpId="0" animBg="1"/>
          <p:bldP spid="10" grpId="0" animBg="1"/>
          <p:bldP spid="11" grpId="0" animBg="1"/>
          <p:bldP spid="12" grpId="0" animBg="1"/>
          <p:bldP spid="13" grpId="0" animBg="1"/>
          <p:bldP spid="2" grpId="0" animBg="1"/>
          <p:bldP spid="4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" fill="hold">
                          <p:stCondLst>
                            <p:cond delay="indefinite"/>
                          </p:stCondLst>
                          <p:childTnLst>
                            <p:par>
                              <p:cTn id="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1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2" presetClass="entr" presetSubtype="8" accel="4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1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1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8" fill="hold">
                          <p:stCondLst>
                            <p:cond delay="indefinite"/>
                          </p:stCondLst>
                          <p:childTnLst>
                            <p:par>
                              <p:cTn id="2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0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3" fill="hold">
                          <p:stCondLst>
                            <p:cond delay="indefinite"/>
                          </p:stCondLst>
                          <p:childTnLst>
                            <p:par>
                              <p:cTn id="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5" presetID="2" presetClass="entr" presetSubtype="8" accel="4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1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1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3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2" presetClass="entr" presetSubtype="8" accel="4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1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1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0" fill="hold">
                          <p:stCondLst>
                            <p:cond delay="indefinite"/>
                          </p:stCondLst>
                          <p:childTnLst>
                            <p:par>
                              <p:cTn id="5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2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2" presetClass="entr" presetSubtype="8" accel="4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1" fill="hold">
                          <p:stCondLst>
                            <p:cond delay="indefinite"/>
                          </p:stCondLst>
                          <p:childTnLst>
                            <p:par>
                              <p:cTn id="6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3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5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6" fill="hold">
                          <p:stCondLst>
                            <p:cond delay="indefinite"/>
                          </p:stCondLst>
                          <p:childTnLst>
                            <p:par>
                              <p:cTn id="6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8" presetID="2" presetClass="entr" presetSubtype="8" accel="4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0" dur="1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1" dur="1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5" grpId="0" animBg="1"/>
          <p:bldP spid="6" grpId="0" animBg="1"/>
          <p:bldP spid="7" grpId="0" animBg="1"/>
          <p:bldP spid="8" grpId="0" animBg="1"/>
          <p:bldP spid="9" grpId="0" animBg="1"/>
          <p:bldP spid="10" grpId="0" animBg="1"/>
          <p:bldP spid="11" grpId="0" animBg="1"/>
          <p:bldP spid="12" grpId="0" animBg="1"/>
          <p:bldP spid="13" grpId="0" animBg="1"/>
          <p:bldP spid="2" grpId="0" animBg="1"/>
          <p:bldP spid="4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238836" y="3493251"/>
            <a:ext cx="4381081" cy="96997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720" tIns="36359" rIns="72720" bIns="36359" rtlCol="0" anchor="ctr"/>
          <a:lstStyle/>
          <a:p>
            <a:pPr algn="ctr"/>
            <a:endParaRPr lang="zh-CN" altLang="en-US" sz="1509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919165" y="2214894"/>
            <a:ext cx="1020423" cy="102042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Entry_1"/>
          <p:cNvSpPr/>
          <p:nvPr>
            <p:custDataLst>
              <p:tags r:id="rId1"/>
            </p:custDataLst>
          </p:nvPr>
        </p:nvSpPr>
        <p:spPr>
          <a:xfrm>
            <a:off x="5161472" y="3701236"/>
            <a:ext cx="2535812" cy="553998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34255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7 w 2520280"/>
              <a:gd name="connsiteY4" fmla="*/ 6036 h 1872208"/>
              <a:gd name="connsiteX5" fmla="*/ 0 w 2520280"/>
              <a:gd name="connsiteY5" fmla="*/ 0 h 1872208"/>
              <a:gd name="connsiteX0" fmla="*/ 0 w 2520280"/>
              <a:gd name="connsiteY0" fmla="*/ 1890314 h 1890314"/>
              <a:gd name="connsiteX1" fmla="*/ 2520280 w 2520280"/>
              <a:gd name="connsiteY1" fmla="*/ 1890314 h 1890314"/>
              <a:gd name="connsiteX2" fmla="*/ 0 w 2520280"/>
              <a:gd name="connsiteY2" fmla="*/ 1890314 h 1890314"/>
              <a:gd name="connsiteX3" fmla="*/ 0 w 2520280"/>
              <a:gd name="connsiteY3" fmla="*/ 18106 h 1890314"/>
              <a:gd name="connsiteX4" fmla="*/ 53304 w 2520280"/>
              <a:gd name="connsiteY4" fmla="*/ 0 h 1890314"/>
              <a:gd name="connsiteX5" fmla="*/ 0 w 2520280"/>
              <a:gd name="connsiteY5" fmla="*/ 18106 h 1890314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6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需求分析</a:t>
            </a:r>
          </a:p>
        </p:txBody>
      </p:sp>
    </p:spTree>
    <p:extLst>
      <p:ext uri="{BB962C8B-B14F-4D97-AF65-F5344CB8AC3E}">
        <p14:creationId xmlns:p14="http://schemas.microsoft.com/office/powerpoint/2010/main" val="41597934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0">
        <p15:prstTrans prst="wind"/>
      </p:transition>
    </mc:Choice>
    <mc:Fallback xmlns="">
      <p:transition spd="slow" advTm="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40000" fill="hold" grpId="0" nodeType="click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40000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56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7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8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0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4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4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56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7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8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0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5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F3AA8-6E9A-2438-6238-CFA2B4605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8">
            <a:extLst>
              <a:ext uri="{FF2B5EF4-FFF2-40B4-BE49-F238E27FC236}">
                <a16:creationId xmlns:a16="http://schemas.microsoft.com/office/drawing/2014/main" id="{F2D8BCB3-1DE0-5261-AF59-F3242F6AA724}"/>
              </a:ext>
            </a:extLst>
          </p:cNvPr>
          <p:cNvSpPr txBox="1"/>
          <p:nvPr/>
        </p:nvSpPr>
        <p:spPr>
          <a:xfrm>
            <a:off x="857250" y="264346"/>
            <a:ext cx="394915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需求分析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44AB060-7B1F-B83A-9B1B-2769068563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133" y="6198107"/>
            <a:ext cx="1099536" cy="101786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BE953CE-3B11-DD4B-1787-C30EC1AA6B04}"/>
              </a:ext>
            </a:extLst>
          </p:cNvPr>
          <p:cNvSpPr txBox="1"/>
          <p:nvPr/>
        </p:nvSpPr>
        <p:spPr>
          <a:xfrm>
            <a:off x="848120" y="695233"/>
            <a:ext cx="11476781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>
                <a:latin typeface="+mn-ea"/>
                <a:ea typeface="+mn-ea"/>
              </a:rPr>
              <a:t>一</a:t>
            </a:r>
            <a:r>
              <a:rPr lang="en-US" altLang="zh-CN" sz="2000" b="1" dirty="0">
                <a:latin typeface="+mn-ea"/>
                <a:ea typeface="+mn-ea"/>
              </a:rPr>
              <a:t>.</a:t>
            </a:r>
            <a:r>
              <a:rPr lang="zh-CN" altLang="en-US" sz="2000" b="1" dirty="0">
                <a:latin typeface="+mn-ea"/>
                <a:ea typeface="+mn-ea"/>
              </a:rPr>
              <a:t>背景概述</a:t>
            </a:r>
            <a:endParaRPr lang="en-US" altLang="zh-CN" sz="2000" b="1" dirty="0">
              <a:latin typeface="+mn-ea"/>
              <a:ea typeface="+mn-ea"/>
            </a:endParaRPr>
          </a:p>
          <a:p>
            <a:pPr>
              <a:buNone/>
            </a:pPr>
            <a:endParaRPr lang="en-US" altLang="zh-CN" sz="2000" b="1" dirty="0">
              <a:latin typeface="+mn-ea"/>
              <a:ea typeface="+mn-ea"/>
            </a:endParaRPr>
          </a:p>
          <a:p>
            <a:r>
              <a:rPr lang="zh-CN" altLang="en-US" sz="2000" dirty="0"/>
              <a:t>我们面临着数字世界的**熵增危机**：</a:t>
            </a:r>
          </a:p>
          <a:p>
            <a:r>
              <a:rPr lang="zh-CN" altLang="en-US" sz="2000" dirty="0"/>
              <a:t>*   </a:t>
            </a:r>
            <a:r>
              <a:rPr lang="zh-CN" altLang="en-US" sz="2000" b="1" dirty="0"/>
              <a:t>**本地文件系统的崩溃**</a:t>
            </a:r>
            <a:r>
              <a:rPr lang="zh-CN" altLang="en-US" sz="2000" dirty="0"/>
              <a:t>：各类应用随意创建缓存、日志和临时文件，破坏了用户的文件结构。有效信息被淹没在系统垃圾中，且随着设备更替，这种混乱不断累积。</a:t>
            </a:r>
          </a:p>
          <a:p>
            <a:r>
              <a:rPr lang="zh-CN" altLang="en-US" sz="2000" dirty="0"/>
              <a:t>*   </a:t>
            </a:r>
            <a:r>
              <a:rPr lang="zh-CN" altLang="en-US" sz="2000" b="1" dirty="0"/>
              <a:t>**网络资源的碎片化**</a:t>
            </a:r>
            <a:r>
              <a:rPr lang="zh-CN" altLang="en-US" sz="2000" dirty="0"/>
              <a:t>：有价值的互联网资源（视频、文章、教程）散落在浏览器的收藏夹里，链接易失效，且缺乏上下文（如账号、备注）。</a:t>
            </a:r>
          </a:p>
          <a:p>
            <a:r>
              <a:rPr lang="zh-CN" altLang="en-US" sz="2000" dirty="0"/>
              <a:t>*   </a:t>
            </a:r>
            <a:r>
              <a:rPr lang="zh-CN" altLang="en-US" sz="2000" b="1" dirty="0"/>
              <a:t>**多设备的割裂**</a:t>
            </a:r>
            <a:r>
              <a:rPr lang="zh-CN" altLang="en-US" sz="2000" dirty="0"/>
              <a:t>：手机、平板、电脑之间的文件难以同步、传输繁琐，形成了无数个信息孤岛。</a:t>
            </a:r>
          </a:p>
          <a:p>
            <a:pPr>
              <a:buNone/>
            </a:pPr>
            <a:endParaRPr lang="en-US" altLang="zh-CN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总之，在多设备环境下个人拥有的数字资产（例如本地文件、网络资源）往往分散在不同的设备（手机、笔记本、台式机）和平台（</a:t>
            </a:r>
            <a:r>
              <a:rPr lang="en-US" altLang="zh-CN" sz="2000" b="1" dirty="0">
                <a:latin typeface="+mn-ea"/>
                <a:ea typeface="+mn-ea"/>
              </a:rPr>
              <a:t>B</a:t>
            </a:r>
            <a:r>
              <a:rPr lang="zh-CN" altLang="en-US" sz="2000" b="1" dirty="0">
                <a:latin typeface="+mn-ea"/>
                <a:ea typeface="+mn-ea"/>
              </a:rPr>
              <a:t>站、网页）中。现有的管理工具要么过于复杂（企业级），要么功能单一（仅本地文件管理）。由此，我们有了构建一个轻量、实用的个人媒体资产管理系统的想法</a:t>
            </a:r>
            <a:endParaRPr lang="en-US" altLang="zh-CN" sz="2000" b="1" dirty="0">
              <a:latin typeface="+mn-ea"/>
              <a:ea typeface="+mn-ea"/>
            </a:endParaRPr>
          </a:p>
          <a:p>
            <a:pPr>
              <a:buNone/>
            </a:pPr>
            <a:endParaRPr lang="en-US" altLang="zh-CN" sz="2000" b="1" dirty="0">
              <a:effectLst/>
              <a:latin typeface="+mn-ea"/>
              <a:ea typeface="+mn-ea"/>
            </a:endParaRPr>
          </a:p>
          <a:p>
            <a:pPr>
              <a:buNone/>
            </a:pPr>
            <a:r>
              <a:rPr lang="zh-CN" altLang="en-US" sz="2000" b="1" dirty="0">
                <a:effectLst/>
                <a:latin typeface="+mn-ea"/>
                <a:ea typeface="+mn-ea"/>
              </a:rPr>
              <a:t>二</a:t>
            </a:r>
            <a:r>
              <a:rPr lang="en-US" altLang="zh-CN" sz="2000" b="1" dirty="0">
                <a:effectLst/>
                <a:latin typeface="+mn-ea"/>
                <a:ea typeface="+mn-ea"/>
              </a:rPr>
              <a:t>.</a:t>
            </a:r>
            <a:r>
              <a:rPr lang="zh-CN" altLang="en-US" sz="2000" b="1" dirty="0">
                <a:effectLst/>
                <a:latin typeface="+mn-ea"/>
                <a:ea typeface="+mn-ea"/>
              </a:rPr>
              <a:t>设计目标</a:t>
            </a:r>
            <a:endParaRPr lang="en-US" altLang="zh-CN" sz="2000" b="1" dirty="0">
              <a:effectLst/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实用主义：不追求大而全的功能，聚焦于“存得进、找得到”。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数据主权：以本地存储为主，网络资源为辅，数据掌握在用户手中。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分布式联动：支持单一用户在多台设备间无缝切换，元数据实时同步。</a:t>
            </a:r>
            <a:endParaRPr lang="en-US" altLang="zh-CN" sz="2000" b="1" dirty="0">
              <a:latin typeface="+mn-ea"/>
              <a:ea typeface="+mn-ea"/>
            </a:endParaRPr>
          </a:p>
          <a:p>
            <a:endParaRPr lang="en-US" altLang="zh-CN" sz="2000" b="1" dirty="0">
              <a:latin typeface="+mn-ea"/>
              <a:ea typeface="+mn-ea"/>
            </a:endParaRPr>
          </a:p>
          <a:p>
            <a:endParaRPr lang="en-US" altLang="zh-CN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基于以上的设计目标，在经过我们小组的讨论之后，认为它应该由以下的设计需求</a:t>
            </a:r>
          </a:p>
          <a:p>
            <a:pPr>
              <a:buNone/>
            </a:pPr>
            <a:endParaRPr lang="zh-CN" altLang="en-US" sz="20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127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BC3DC-1C60-ADDF-F193-10D572434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8">
            <a:extLst>
              <a:ext uri="{FF2B5EF4-FFF2-40B4-BE49-F238E27FC236}">
                <a16:creationId xmlns:a16="http://schemas.microsoft.com/office/drawing/2014/main" id="{2554F818-F138-460C-2B3D-5FAC7AD9F54B}"/>
              </a:ext>
            </a:extLst>
          </p:cNvPr>
          <p:cNvSpPr txBox="1"/>
          <p:nvPr/>
        </p:nvSpPr>
        <p:spPr>
          <a:xfrm>
            <a:off x="857250" y="264346"/>
            <a:ext cx="394915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需求分析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006EDF4-E65C-F5EF-2653-6A8CEDD234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133" y="6198107"/>
            <a:ext cx="1099536" cy="101786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E4825A2-C609-61EF-FAFB-6EF0130FA49D}"/>
              </a:ext>
            </a:extLst>
          </p:cNvPr>
          <p:cNvSpPr txBox="1"/>
          <p:nvPr/>
        </p:nvSpPr>
        <p:spPr>
          <a:xfrm>
            <a:off x="848120" y="695233"/>
            <a:ext cx="1147678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>
                <a:effectLst/>
                <a:latin typeface="+mn-ea"/>
                <a:ea typeface="+mn-ea"/>
              </a:rPr>
              <a:t>二</a:t>
            </a:r>
            <a:r>
              <a:rPr lang="en-US" altLang="zh-CN" sz="2000" b="1" dirty="0">
                <a:effectLst/>
                <a:latin typeface="+mn-ea"/>
                <a:ea typeface="+mn-ea"/>
              </a:rPr>
              <a:t>.</a:t>
            </a:r>
            <a:r>
              <a:rPr lang="zh-CN" altLang="en-US" sz="2000" b="1" dirty="0">
                <a:effectLst/>
                <a:latin typeface="+mn-ea"/>
                <a:ea typeface="+mn-ea"/>
              </a:rPr>
              <a:t>设计目标</a:t>
            </a:r>
            <a:endParaRPr lang="en-US" altLang="zh-CN" sz="2000" b="1" dirty="0">
              <a:effectLst/>
              <a:latin typeface="+mn-ea"/>
              <a:ea typeface="+mn-ea"/>
            </a:endParaRPr>
          </a:p>
          <a:p>
            <a:r>
              <a:rPr lang="zh-CN" altLang="en-US" sz="2000" dirty="0"/>
              <a:t>我们的目标是构建一个</a:t>
            </a:r>
            <a:r>
              <a:rPr lang="zh-CN" altLang="en-US" sz="2000" b="1" dirty="0"/>
              <a:t>**轻量级、实用至上**</a:t>
            </a:r>
            <a:r>
              <a:rPr lang="zh-CN" altLang="en-US" sz="2000" dirty="0"/>
              <a:t>的个人媒体资产管理系统。采用</a:t>
            </a:r>
            <a:r>
              <a:rPr lang="zh-CN" altLang="en-US" sz="2000" b="1" dirty="0"/>
              <a:t>**</a:t>
            </a:r>
            <a:r>
              <a:rPr lang="en-US" altLang="zh-CN" sz="2000" b="1" dirty="0"/>
              <a:t>MVP</a:t>
            </a:r>
            <a:r>
              <a:rPr lang="zh-CN" altLang="en-US" sz="2000" b="1" dirty="0"/>
              <a:t>（最小可行性产品）**</a:t>
            </a:r>
            <a:r>
              <a:rPr lang="zh-CN" altLang="en-US" sz="2000" dirty="0"/>
              <a:t>开发策略，优先解决</a:t>
            </a:r>
            <a:r>
              <a:rPr lang="zh-CN" altLang="en-US" sz="2000" b="1" dirty="0"/>
              <a:t>**单用户、多设备**</a:t>
            </a:r>
            <a:r>
              <a:rPr lang="zh-CN" altLang="en-US" sz="2000" dirty="0"/>
              <a:t>场景下的资源统一索引与管理问题。</a:t>
            </a:r>
          </a:p>
          <a:p>
            <a:endParaRPr lang="zh-CN" altLang="en-US" sz="2000" dirty="0"/>
          </a:p>
          <a:p>
            <a:r>
              <a:rPr lang="zh-CN" altLang="en-US" sz="2000" b="1" dirty="0"/>
              <a:t>**</a:t>
            </a:r>
            <a:r>
              <a:rPr lang="en-US" altLang="zh-CN" sz="2000" b="1" dirty="0" err="1"/>
              <a:t>MediArchive</a:t>
            </a:r>
            <a:r>
              <a:rPr lang="en-US" altLang="zh-CN" sz="2000" b="1" dirty="0"/>
              <a:t> Pro**</a:t>
            </a:r>
            <a:r>
              <a:rPr lang="zh-CN" altLang="en-US" sz="2000" dirty="0"/>
              <a:t> 不仅仅是一个文件管理器，它是一套</a:t>
            </a:r>
            <a:r>
              <a:rPr lang="zh-CN" altLang="en-US" sz="2000" b="1" dirty="0"/>
              <a:t>**个人信息解放方案**</a:t>
            </a:r>
            <a:r>
              <a:rPr lang="zh-CN" altLang="en-US" sz="2000" dirty="0"/>
              <a:t>，核心理念如下：</a:t>
            </a:r>
          </a:p>
          <a:p>
            <a:endParaRPr lang="zh-CN" altLang="en-US" sz="2000" dirty="0"/>
          </a:p>
          <a:p>
            <a:r>
              <a:rPr lang="zh-CN" altLang="en-US" sz="2000" dirty="0"/>
              <a:t>*   </a:t>
            </a:r>
            <a:r>
              <a:rPr lang="zh-CN" altLang="en-US" sz="2000" b="1" dirty="0"/>
              <a:t>**数据解放**</a:t>
            </a:r>
            <a:r>
              <a:rPr lang="zh-CN" altLang="en-US" sz="2000" dirty="0"/>
              <a:t>：让用户从数据混乱中解放，无需整理物理硬盘，只需维护数据库索引。</a:t>
            </a:r>
          </a:p>
          <a:p>
            <a:r>
              <a:rPr lang="zh-CN" altLang="en-US" sz="2000" dirty="0"/>
              <a:t>*   </a:t>
            </a:r>
            <a:r>
              <a:rPr lang="zh-CN" altLang="en-US" sz="2000" b="1" dirty="0"/>
              <a:t>**实用主义 </a:t>
            </a:r>
            <a:r>
              <a:rPr lang="en-US" altLang="zh-CN" sz="2000" b="1" dirty="0"/>
              <a:t>**</a:t>
            </a:r>
            <a:r>
              <a:rPr lang="zh-CN" altLang="en-US" sz="2000" dirty="0"/>
              <a:t>：不追求大而全的功能，聚焦于“存得进、找得到”。通过构建一层</a:t>
            </a:r>
            <a:r>
              <a:rPr lang="zh-CN" altLang="en-US" sz="2000" b="1" dirty="0"/>
              <a:t>**虚拟的数据库索引**</a:t>
            </a:r>
            <a:r>
              <a:rPr lang="zh-CN" altLang="en-US" sz="2000" dirty="0"/>
              <a:t>，用户在这里进行整理、分类和打标签，而底层的物理文件可以散落在任何地方（</a:t>
            </a:r>
            <a:r>
              <a:rPr lang="en-US" altLang="zh-CN" sz="2000" dirty="0"/>
              <a:t>D</a:t>
            </a:r>
            <a:r>
              <a:rPr lang="zh-CN" altLang="en-US" sz="2000" dirty="0"/>
              <a:t>盘、</a:t>
            </a:r>
            <a:r>
              <a:rPr lang="en-US" altLang="zh-CN" sz="2000" dirty="0"/>
              <a:t>E</a:t>
            </a:r>
            <a:r>
              <a:rPr lang="zh-CN" altLang="en-US" sz="2000" dirty="0"/>
              <a:t>盘、</a:t>
            </a:r>
            <a:r>
              <a:rPr lang="en-US" altLang="zh-CN" sz="2000" dirty="0"/>
              <a:t>NAS</a:t>
            </a:r>
            <a:r>
              <a:rPr lang="zh-CN" altLang="en-US" sz="2000" dirty="0"/>
              <a:t>、</a:t>
            </a:r>
            <a:r>
              <a:rPr lang="en-US" altLang="zh-CN" sz="2000" dirty="0"/>
              <a:t>Web</a:t>
            </a:r>
            <a:r>
              <a:rPr lang="zh-CN" altLang="en-US" sz="2000" dirty="0"/>
              <a:t>），互不干扰。</a:t>
            </a:r>
          </a:p>
          <a:p>
            <a:r>
              <a:rPr lang="zh-CN" altLang="en-US" sz="2000" dirty="0"/>
              <a:t>*   </a:t>
            </a:r>
            <a:r>
              <a:rPr lang="zh-CN" altLang="en-US" sz="2000" b="1" dirty="0"/>
              <a:t>**数据主权 </a:t>
            </a:r>
            <a:r>
              <a:rPr lang="en-US" altLang="zh-CN" sz="2000" b="1" dirty="0"/>
              <a:t>**</a:t>
            </a:r>
            <a:r>
              <a:rPr lang="zh-CN" altLang="en-US" sz="2000" dirty="0"/>
              <a:t>：坚持</a:t>
            </a:r>
            <a:r>
              <a:rPr lang="zh-CN" altLang="en-US" sz="2000" b="1" dirty="0"/>
              <a:t>**本地优先 </a:t>
            </a:r>
            <a:r>
              <a:rPr lang="en-US" altLang="zh-CN" sz="2000" b="1" dirty="0"/>
              <a:t>**</a:t>
            </a:r>
            <a:r>
              <a:rPr lang="zh-CN" altLang="en-US" sz="2000" dirty="0"/>
              <a:t>，以本地存储为主，网络资源为辅。数据完全掌握在用户手中，不依赖云厂商，从根本上保障隐私与安全。</a:t>
            </a:r>
          </a:p>
          <a:p>
            <a:r>
              <a:rPr lang="zh-CN" altLang="en-US" sz="2000" dirty="0"/>
              <a:t>*   </a:t>
            </a:r>
            <a:r>
              <a:rPr lang="zh-CN" altLang="en-US" sz="2000" b="1" dirty="0"/>
              <a:t>**分布式联动</a:t>
            </a:r>
            <a:r>
              <a:rPr lang="en-US" altLang="zh-CN" sz="2000" b="1" dirty="0"/>
              <a:t>**</a:t>
            </a:r>
            <a:r>
              <a:rPr lang="zh-CN" altLang="en-US" sz="2000" dirty="0"/>
              <a:t>：支持单一用户在多台设备间无缝切换。通过局域网 </a:t>
            </a:r>
            <a:r>
              <a:rPr lang="en-US" altLang="zh-CN" sz="2000" dirty="0"/>
              <a:t>P2P </a:t>
            </a:r>
            <a:r>
              <a:rPr lang="zh-CN" altLang="en-US" sz="2000" dirty="0"/>
              <a:t>同步技术，实现元数据的实时同步，打破设备间的壁垒，让信息自由流动。</a:t>
            </a:r>
          </a:p>
          <a:p>
            <a:endParaRPr lang="en-US" altLang="zh-CN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基于以上的设计目标，在经过我们小组的讨论之后，认为它应该由以下的设计需求</a:t>
            </a:r>
          </a:p>
          <a:p>
            <a:pPr>
              <a:buNone/>
            </a:pPr>
            <a:endParaRPr lang="zh-CN" altLang="en-US" sz="20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30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86F8B-BA91-9BDE-22E5-3630F98F2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8">
            <a:extLst>
              <a:ext uri="{FF2B5EF4-FFF2-40B4-BE49-F238E27FC236}">
                <a16:creationId xmlns:a16="http://schemas.microsoft.com/office/drawing/2014/main" id="{67B36769-F257-330C-A863-526E4FF99170}"/>
              </a:ext>
            </a:extLst>
          </p:cNvPr>
          <p:cNvSpPr txBox="1"/>
          <p:nvPr/>
        </p:nvSpPr>
        <p:spPr>
          <a:xfrm>
            <a:off x="857250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3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功能需求</a:t>
            </a:r>
            <a:endParaRPr lang="zh-CN" altLang="en-US" sz="4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13E8C6DD-1554-5141-5E43-4647836549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304" y="6136605"/>
            <a:ext cx="1172791" cy="1086005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E8EC312-6905-A27A-F9FD-C8C7D8ED8D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690455"/>
              </p:ext>
            </p:extLst>
          </p:nvPr>
        </p:nvGraphicFramePr>
        <p:xfrm>
          <a:off x="1676847" y="1024037"/>
          <a:ext cx="9960403" cy="5608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691">
                  <a:extLst>
                    <a:ext uri="{9D8B030D-6E8A-4147-A177-3AD203B41FA5}">
                      <a16:colId xmlns:a16="http://schemas.microsoft.com/office/drawing/2014/main" val="4199300509"/>
                    </a:ext>
                  </a:extLst>
                </a:gridCol>
                <a:gridCol w="1752952">
                  <a:extLst>
                    <a:ext uri="{9D8B030D-6E8A-4147-A177-3AD203B41FA5}">
                      <a16:colId xmlns:a16="http://schemas.microsoft.com/office/drawing/2014/main" val="1063896878"/>
                    </a:ext>
                  </a:extLst>
                </a:gridCol>
                <a:gridCol w="987949">
                  <a:extLst>
                    <a:ext uri="{9D8B030D-6E8A-4147-A177-3AD203B41FA5}">
                      <a16:colId xmlns:a16="http://schemas.microsoft.com/office/drawing/2014/main" val="1276656138"/>
                    </a:ext>
                  </a:extLst>
                </a:gridCol>
                <a:gridCol w="4631811">
                  <a:extLst>
                    <a:ext uri="{9D8B030D-6E8A-4147-A177-3AD203B41FA5}">
                      <a16:colId xmlns:a16="http://schemas.microsoft.com/office/drawing/2014/main" val="3201745427"/>
                    </a:ext>
                  </a:extLst>
                </a:gridCol>
              </a:tblGrid>
              <a:tr h="4880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需求点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优先级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967630"/>
                  </a:ext>
                </a:extLst>
              </a:tr>
              <a:tr h="4880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资源录入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混合索引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支持本地文件路径与网络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URL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的统一录入。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871318"/>
                  </a:ext>
                </a:extLst>
              </a:tr>
              <a:tr h="5006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虚拟整理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支持创建与物理路径无关的虚拟文件夹树。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665904"/>
                  </a:ext>
                </a:extLst>
              </a:tr>
              <a:tr h="4880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辅助信息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支持记录访问账号、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VPN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提示、自定义备注。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294286"/>
                  </a:ext>
                </a:extLst>
              </a:tr>
              <a:tr h="4880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检索管理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多维搜索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支持按标题、标签、存储设备、类型组合搜索。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821494"/>
                  </a:ext>
                </a:extLst>
              </a:tr>
              <a:tr h="488054"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标签系统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支持多对多标签管理，构建网状知识图谱。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616020"/>
                  </a:ext>
                </a:extLst>
              </a:tr>
              <a:tr h="4880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分布式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设备管理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注册与管理多台个人设备（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PC/Laptop/Mobile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928739"/>
                  </a:ext>
                </a:extLst>
              </a:tr>
              <a:tr h="4880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路径映射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同一资源在不同设备可对应不同物理路径。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892272"/>
                  </a:ext>
                </a:extLst>
              </a:tr>
              <a:tr h="4880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元数据同步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局域网内自动同步数据库索引，保证视图一致。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940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8071293"/>
      </p:ext>
    </p:extLst>
  </p:cSld>
  <p:clrMapOvr>
    <a:masterClrMapping/>
  </p:clrMapOvr>
  <p:transition spd="med" advTm="0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6FF6D-29DB-70C2-899A-80096B8DB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8">
            <a:extLst>
              <a:ext uri="{FF2B5EF4-FFF2-40B4-BE49-F238E27FC236}">
                <a16:creationId xmlns:a16="http://schemas.microsoft.com/office/drawing/2014/main" id="{021746AC-1045-D9B7-2144-7A5B281427C2}"/>
              </a:ext>
            </a:extLst>
          </p:cNvPr>
          <p:cNvSpPr txBox="1"/>
          <p:nvPr/>
        </p:nvSpPr>
        <p:spPr>
          <a:xfrm>
            <a:off x="857250" y="264346"/>
            <a:ext cx="394915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非功能性需求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6ADBCA5-D59A-E2F5-46E2-C40FF6F0FD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133" y="6198107"/>
            <a:ext cx="1099536" cy="101786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7EB0894-FECA-89A4-41AA-B3BE8B2808D0}"/>
              </a:ext>
            </a:extLst>
          </p:cNvPr>
          <p:cNvSpPr txBox="1"/>
          <p:nvPr/>
        </p:nvSpPr>
        <p:spPr>
          <a:xfrm>
            <a:off x="690984" y="954057"/>
            <a:ext cx="1147678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  <a:ea typeface="+mn-ea"/>
                <a:sym typeface="Lato" charset="0"/>
              </a:rPr>
              <a:t>此外，还有一些非功能需求，包括：</a:t>
            </a:r>
            <a:endParaRPr lang="en-US" altLang="zh-CN" sz="2000" b="1" dirty="0">
              <a:latin typeface="+mn-ea"/>
              <a:ea typeface="+mn-ea"/>
              <a:sym typeface="Lato" charset="0"/>
            </a:endParaRPr>
          </a:p>
          <a:p>
            <a:r>
              <a:rPr lang="zh-CN" altLang="en-US" sz="2000" b="1" dirty="0">
                <a:latin typeface="+mn-ea"/>
                <a:ea typeface="+mn-ea"/>
                <a:sym typeface="Lato" charset="0"/>
              </a:rPr>
              <a:t>一</a:t>
            </a:r>
            <a:r>
              <a:rPr lang="en-US" altLang="zh-CN" sz="2000" b="1" dirty="0">
                <a:latin typeface="+mn-ea"/>
                <a:ea typeface="+mn-ea"/>
                <a:sym typeface="Lato" charset="0"/>
              </a:rPr>
              <a:t>.</a:t>
            </a:r>
            <a:r>
              <a:rPr lang="zh-CN" altLang="en-US" sz="2000" b="1" dirty="0">
                <a:latin typeface="+mn-ea"/>
                <a:ea typeface="+mn-ea"/>
                <a:sym typeface="Lato" charset="0"/>
              </a:rPr>
              <a:t>易用性</a:t>
            </a:r>
          </a:p>
          <a:p>
            <a:r>
              <a:rPr lang="zh-CN" altLang="en-US" sz="2000" b="1" dirty="0">
                <a:latin typeface="+mn-ea"/>
                <a:ea typeface="+mn-ea"/>
                <a:sym typeface="Lato" charset="0"/>
              </a:rPr>
              <a:t>界面直观：</a:t>
            </a:r>
            <a:r>
              <a:rPr lang="en-US" altLang="zh-CN" sz="2000" b="1" dirty="0">
                <a:latin typeface="+mn-ea"/>
                <a:ea typeface="+mn-ea"/>
                <a:sym typeface="Lato" charset="0"/>
              </a:rPr>
              <a:t>UI </a:t>
            </a:r>
            <a:r>
              <a:rPr lang="zh-CN" altLang="en-US" sz="2000" b="1" dirty="0">
                <a:latin typeface="+mn-ea"/>
                <a:ea typeface="+mn-ea"/>
                <a:sym typeface="Lato" charset="0"/>
              </a:rPr>
              <a:t>交互逻辑应贴近原生文件管理器，降低学习成本。</a:t>
            </a:r>
          </a:p>
          <a:p>
            <a:r>
              <a:rPr lang="zh-CN" altLang="en-US" sz="2000" b="1" dirty="0">
                <a:latin typeface="+mn-ea"/>
                <a:ea typeface="+mn-ea"/>
                <a:sym typeface="Lato" charset="0"/>
              </a:rPr>
              <a:t>灵活兼容：能够处理各种非标准网络资源记录（不仅仅是 </a:t>
            </a:r>
            <a:r>
              <a:rPr lang="en-US" altLang="zh-CN" sz="2000" b="1" dirty="0">
                <a:latin typeface="+mn-ea"/>
                <a:ea typeface="+mn-ea"/>
                <a:sym typeface="Lato" charset="0"/>
              </a:rPr>
              <a:t>HTTP </a:t>
            </a:r>
            <a:r>
              <a:rPr lang="zh-CN" altLang="en-US" sz="2000" b="1" dirty="0">
                <a:latin typeface="+mn-ea"/>
                <a:ea typeface="+mn-ea"/>
                <a:sym typeface="Lato" charset="0"/>
              </a:rPr>
              <a:t>链接）。</a:t>
            </a:r>
            <a:endParaRPr lang="en-US" altLang="zh-CN" sz="2000" b="1" dirty="0">
              <a:latin typeface="+mn-ea"/>
              <a:ea typeface="+mn-ea"/>
              <a:sym typeface="Lato" charset="0"/>
            </a:endParaRPr>
          </a:p>
          <a:p>
            <a:endParaRPr lang="en-US" altLang="zh-CN" sz="2000" b="1" dirty="0">
              <a:latin typeface="+mn-ea"/>
              <a:ea typeface="+mn-ea"/>
              <a:sym typeface="Lato" charset="0"/>
            </a:endParaRPr>
          </a:p>
          <a:p>
            <a:r>
              <a:rPr lang="zh-CN" altLang="en-US" sz="2000" b="1" dirty="0">
                <a:latin typeface="+mn-ea"/>
                <a:ea typeface="+mn-ea"/>
                <a:sym typeface="Lato" charset="0"/>
              </a:rPr>
              <a:t>二</a:t>
            </a:r>
            <a:r>
              <a:rPr lang="en-US" altLang="zh-CN" sz="2000" b="1" dirty="0">
                <a:latin typeface="+mn-ea"/>
                <a:ea typeface="+mn-ea"/>
                <a:sym typeface="Lato" charset="0"/>
              </a:rPr>
              <a:t>.</a:t>
            </a:r>
            <a:r>
              <a:rPr lang="zh-CN" altLang="en-US" sz="2000" b="1" dirty="0">
                <a:latin typeface="+mn-ea"/>
                <a:ea typeface="+mn-ea"/>
              </a:rPr>
              <a:t>性能与成本</a:t>
            </a:r>
            <a:endParaRPr lang="en-US" altLang="zh-CN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轻量级：客户端启动迅速，资源占用低。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低延迟：局域网内元数据同步延迟 </a:t>
            </a:r>
            <a:r>
              <a:rPr lang="en-US" altLang="zh-CN" sz="2000" b="1" dirty="0">
                <a:latin typeface="+mn-ea"/>
                <a:ea typeface="+mn-ea"/>
              </a:rPr>
              <a:t>&lt; 3</a:t>
            </a:r>
            <a:r>
              <a:rPr lang="zh-CN" altLang="en-US" sz="2000" b="1" dirty="0">
                <a:latin typeface="+mn-ea"/>
                <a:ea typeface="+mn-ea"/>
              </a:rPr>
              <a:t>秒。</a:t>
            </a:r>
            <a:endParaRPr lang="en-US" altLang="zh-CN" sz="2000" b="1" dirty="0">
              <a:latin typeface="+mn-ea"/>
              <a:ea typeface="+mn-ea"/>
            </a:endParaRPr>
          </a:p>
          <a:p>
            <a:endParaRPr lang="en-US" altLang="zh-CN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三</a:t>
            </a:r>
            <a:r>
              <a:rPr lang="en-US" altLang="zh-CN" sz="2000" b="1" dirty="0">
                <a:latin typeface="+mn-ea"/>
                <a:ea typeface="+mn-ea"/>
              </a:rPr>
              <a:t>.</a:t>
            </a:r>
            <a:r>
              <a:rPr lang="zh-CN" altLang="en-US" sz="2000" b="1" dirty="0">
                <a:latin typeface="+mn-ea"/>
                <a:ea typeface="+mn-ea"/>
              </a:rPr>
              <a:t>可扩展性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用户实体预留：虽然目前是单用户，但数据库设计中需包含 </a:t>
            </a:r>
            <a:r>
              <a:rPr lang="en-US" altLang="zh-CN" sz="2000" b="1" dirty="0">
                <a:latin typeface="+mn-ea"/>
                <a:ea typeface="+mn-ea"/>
              </a:rPr>
              <a:t>`User`</a:t>
            </a:r>
            <a:r>
              <a:rPr lang="zh-CN" altLang="en-US" sz="2000" b="1" dirty="0">
                <a:latin typeface="+mn-ea"/>
                <a:ea typeface="+mn-ea"/>
              </a:rPr>
              <a:t> 表，所有资源关联至 </a:t>
            </a:r>
            <a:r>
              <a:rPr lang="en-US" altLang="zh-CN" sz="2000" b="1" dirty="0">
                <a:latin typeface="+mn-ea"/>
                <a:ea typeface="+mn-ea"/>
              </a:rPr>
              <a:t>`User ID`</a:t>
            </a:r>
            <a:r>
              <a:rPr lang="zh-CN" altLang="en-US" sz="2000" b="1" dirty="0">
                <a:latin typeface="+mn-ea"/>
                <a:ea typeface="+mn-ea"/>
              </a:rPr>
              <a:t>，为未来多用户功能铺路。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功能预留：加密、去重等功能在数据库字段上预留位置，但目前阶段不编写具体逻辑。</a:t>
            </a:r>
          </a:p>
          <a:p>
            <a:endParaRPr lang="zh-CN" altLang="en-US" sz="2000" dirty="0"/>
          </a:p>
          <a:p>
            <a:r>
              <a:rPr lang="zh-CN" altLang="en-US" sz="2000" b="1" dirty="0"/>
              <a:t> </a:t>
            </a:r>
            <a:endParaRPr lang="zh-CN" altLang="en-US" sz="2000" dirty="0"/>
          </a:p>
          <a:p>
            <a:endParaRPr lang="zh-CN" altLang="en-US" sz="2000" b="1" dirty="0">
              <a:latin typeface="Consolas" panose="020B0609020204030204" pitchFamily="49" charset="0"/>
              <a:sym typeface="Lato" charset="0"/>
            </a:endParaRPr>
          </a:p>
          <a:p>
            <a:pPr>
              <a:buNone/>
            </a:pPr>
            <a:endParaRPr lang="zh-CN" altLang="en-US" sz="20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55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238836" y="3493251"/>
            <a:ext cx="4381081" cy="96997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720" tIns="36359" rIns="72720" bIns="36359" rtlCol="0" anchor="ctr"/>
          <a:lstStyle/>
          <a:p>
            <a:pPr algn="ctr"/>
            <a:endParaRPr lang="zh-CN" altLang="en-US" sz="1509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919165" y="2214894"/>
            <a:ext cx="1020423" cy="102042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zh-CN" altLang="en-US" sz="4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Entry_1"/>
          <p:cNvSpPr/>
          <p:nvPr>
            <p:custDataLst>
              <p:tags r:id="rId1"/>
            </p:custDataLst>
          </p:nvPr>
        </p:nvSpPr>
        <p:spPr>
          <a:xfrm>
            <a:off x="5161472" y="3731950"/>
            <a:ext cx="2535812" cy="492571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34255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7 w 2520280"/>
              <a:gd name="connsiteY4" fmla="*/ 6036 h 1872208"/>
              <a:gd name="connsiteX5" fmla="*/ 0 w 2520280"/>
              <a:gd name="connsiteY5" fmla="*/ 0 h 1872208"/>
              <a:gd name="connsiteX0" fmla="*/ 0 w 2520280"/>
              <a:gd name="connsiteY0" fmla="*/ 1890314 h 1890314"/>
              <a:gd name="connsiteX1" fmla="*/ 2520280 w 2520280"/>
              <a:gd name="connsiteY1" fmla="*/ 1890314 h 1890314"/>
              <a:gd name="connsiteX2" fmla="*/ 0 w 2520280"/>
              <a:gd name="connsiteY2" fmla="*/ 1890314 h 1890314"/>
              <a:gd name="connsiteX3" fmla="*/ 0 w 2520280"/>
              <a:gd name="connsiteY3" fmla="*/ 18106 h 1890314"/>
              <a:gd name="connsiteX4" fmla="*/ 53304 w 2520280"/>
              <a:gd name="connsiteY4" fmla="*/ 0 h 1890314"/>
              <a:gd name="connsiteX5" fmla="*/ 0 w 2520280"/>
              <a:gd name="connsiteY5" fmla="*/ 18106 h 1890314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6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20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概念结构设计</a:t>
            </a:r>
            <a:endParaRPr lang="zh-CN" altLang="en-US" sz="140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3796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0">
        <p15:prstTrans prst="wind"/>
      </p:transition>
    </mc:Choice>
    <mc:Fallback xmlns="">
      <p:transition spd="slow" advTm="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40000" fill="hold" grpId="0" nodeType="click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40000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56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7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8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0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4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4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56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7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8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0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5" grpId="0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F55A9-5FDC-5047-D08F-FAB1AF7CA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8">
            <a:extLst>
              <a:ext uri="{FF2B5EF4-FFF2-40B4-BE49-F238E27FC236}">
                <a16:creationId xmlns:a16="http://schemas.microsoft.com/office/drawing/2014/main" id="{87A876F8-F825-0922-451B-1576B97F01CD}"/>
              </a:ext>
            </a:extLst>
          </p:cNvPr>
          <p:cNvSpPr txBox="1"/>
          <p:nvPr/>
        </p:nvSpPr>
        <p:spPr>
          <a:xfrm>
            <a:off x="884759" y="91165"/>
            <a:ext cx="394915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概念结构设计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9186EB4-F3E3-EE5E-2540-F4E3D01A80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133" y="6198107"/>
            <a:ext cx="1099536" cy="101786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02C2187-05C3-9C4F-D723-7DCFDB02DB07}"/>
              </a:ext>
            </a:extLst>
          </p:cNvPr>
          <p:cNvSpPr txBox="1"/>
          <p:nvPr/>
        </p:nvSpPr>
        <p:spPr>
          <a:xfrm>
            <a:off x="740743" y="522052"/>
            <a:ext cx="11476781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  <a:ea typeface="+mn-ea"/>
              </a:rPr>
              <a:t>基于需求分析，我们构建了以下的实体：</a:t>
            </a:r>
            <a:endParaRPr lang="en-US" altLang="zh-CN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(1) </a:t>
            </a:r>
            <a:r>
              <a:rPr lang="zh-CN" altLang="en-US" sz="2000" b="1" dirty="0">
                <a:latin typeface="+mn-ea"/>
                <a:ea typeface="+mn-ea"/>
              </a:rPr>
              <a:t>用户 </a:t>
            </a:r>
            <a:r>
              <a:rPr lang="en-US" altLang="zh-CN" sz="2000" b="1" dirty="0">
                <a:latin typeface="+mn-ea"/>
                <a:ea typeface="+mn-ea"/>
              </a:rPr>
              <a:t>(User)</a:t>
            </a:r>
            <a:r>
              <a:rPr lang="zh-CN" altLang="en-US" sz="2000" b="1" dirty="0">
                <a:latin typeface="+mn-ea"/>
                <a:ea typeface="+mn-ea"/>
              </a:rPr>
              <a:t>：系统的使用者。虽然 </a:t>
            </a:r>
            <a:r>
              <a:rPr lang="en-US" altLang="zh-CN" sz="2000" b="1" dirty="0">
                <a:latin typeface="+mn-ea"/>
                <a:ea typeface="+mn-ea"/>
              </a:rPr>
              <a:t>MVP </a:t>
            </a:r>
            <a:r>
              <a:rPr lang="zh-CN" altLang="en-US" sz="2000" b="1" dirty="0">
                <a:latin typeface="+mn-ea"/>
                <a:ea typeface="+mn-ea"/>
              </a:rPr>
              <a:t>仅支持单用户，但保留此实体以支持未来扩展（如多用户隔离）。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user_id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唯一标识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`username` (</a:t>
            </a:r>
            <a:r>
              <a:rPr lang="zh-CN" altLang="en-US" sz="2000" b="1" dirty="0">
                <a:latin typeface="+mn-ea"/>
                <a:ea typeface="+mn-ea"/>
              </a:rPr>
              <a:t>用户名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created_at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注册时间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  <a:p>
            <a:endParaRPr lang="en-US" altLang="zh-CN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 (2) </a:t>
            </a:r>
            <a:r>
              <a:rPr lang="zh-CN" altLang="en-US" sz="2000" b="1" dirty="0">
                <a:latin typeface="+mn-ea"/>
                <a:ea typeface="+mn-ea"/>
              </a:rPr>
              <a:t>设备 </a:t>
            </a:r>
            <a:r>
              <a:rPr lang="en-US" altLang="zh-CN" sz="2000" b="1" dirty="0">
                <a:latin typeface="+mn-ea"/>
                <a:ea typeface="+mn-ea"/>
              </a:rPr>
              <a:t>(Device)</a:t>
            </a:r>
            <a:r>
              <a:rPr lang="zh-CN" altLang="en-US" sz="2000" b="1" dirty="0">
                <a:latin typeface="+mn-ea"/>
                <a:ea typeface="+mn-ea"/>
              </a:rPr>
              <a:t>：用户拥有的物理设备（如台式机、笔记本、手机）。</a:t>
            </a:r>
            <a:endParaRPr lang="en-US" altLang="zh-CN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基本属性有：</a:t>
            </a:r>
            <a:endParaRPr lang="en-US" altLang="zh-CN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device_id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唯一标识，</a:t>
            </a:r>
            <a:r>
              <a:rPr lang="en-US" altLang="zh-CN" sz="2000" b="1" dirty="0">
                <a:latin typeface="+mn-ea"/>
                <a:ea typeface="+mn-ea"/>
              </a:rPr>
              <a:t>UUID)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device_name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设备名称，如 </a:t>
            </a:r>
            <a:r>
              <a:rPr lang="en-US" altLang="zh-CN" sz="2000" b="1" dirty="0">
                <a:latin typeface="+mn-ea"/>
                <a:ea typeface="+mn-ea"/>
              </a:rPr>
              <a:t>"My ThinkPad")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device_type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类型：</a:t>
            </a:r>
            <a:r>
              <a:rPr lang="en-US" altLang="zh-CN" sz="2000" b="1" dirty="0">
                <a:latin typeface="+mn-ea"/>
                <a:ea typeface="+mn-ea"/>
              </a:rPr>
              <a:t>PC/Mobile/Tablet)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last_sync_time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最后同步时间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  <a:p>
            <a:br>
              <a:rPr lang="en-US" altLang="zh-CN" sz="2000" b="1" dirty="0">
                <a:latin typeface="+mn-ea"/>
                <a:ea typeface="+mn-ea"/>
              </a:rPr>
            </a:br>
            <a:r>
              <a:rPr lang="en-US" altLang="zh-CN" sz="2000" b="1" dirty="0">
                <a:latin typeface="+mn-ea"/>
                <a:ea typeface="+mn-ea"/>
              </a:rPr>
              <a:t>(3) </a:t>
            </a:r>
            <a:r>
              <a:rPr lang="zh-CN" altLang="en-US" sz="2000" b="1" dirty="0">
                <a:latin typeface="+mn-ea"/>
                <a:ea typeface="+mn-ea"/>
              </a:rPr>
              <a:t>媒体项 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en-US" altLang="zh-CN" sz="2000" b="1" dirty="0" err="1">
                <a:latin typeface="+mn-ea"/>
                <a:ea typeface="+mn-ea"/>
              </a:rPr>
              <a:t>MediaItem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r>
              <a:rPr lang="zh-CN" altLang="en-US" sz="2000" b="1" dirty="0">
                <a:latin typeface="+mn-ea"/>
                <a:ea typeface="+mn-ea"/>
              </a:rPr>
              <a:t>：逻辑上的媒体资源单位。它代表一个“内容”，不绑定具体的物理路径。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item_id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唯一标识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`title` (</a:t>
            </a:r>
            <a:r>
              <a:rPr lang="zh-CN" altLang="en-US" sz="2000" b="1" dirty="0">
                <a:latin typeface="+mn-ea"/>
                <a:ea typeface="+mn-ea"/>
              </a:rPr>
              <a:t>标题</a:t>
            </a:r>
            <a:r>
              <a:rPr lang="en-US" altLang="zh-CN" sz="2000" b="1" dirty="0">
                <a:latin typeface="+mn-ea"/>
                <a:ea typeface="+mn-ea"/>
              </a:rPr>
              <a:t>/</a:t>
            </a:r>
            <a:r>
              <a:rPr lang="zh-CN" altLang="en-US" sz="2000" b="1" dirty="0">
                <a:latin typeface="+mn-ea"/>
                <a:ea typeface="+mn-ea"/>
              </a:rPr>
              <a:t>文件名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media_type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类型：</a:t>
            </a:r>
            <a:r>
              <a:rPr lang="en-US" altLang="zh-CN" sz="2000" b="1" dirty="0">
                <a:latin typeface="+mn-ea"/>
                <a:ea typeface="+mn-ea"/>
              </a:rPr>
              <a:t>Video/Image/Doc/Web)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`description` (</a:t>
            </a:r>
            <a:r>
              <a:rPr lang="zh-CN" altLang="en-US" sz="2000" b="1" dirty="0">
                <a:latin typeface="+mn-ea"/>
                <a:ea typeface="+mn-ea"/>
              </a:rPr>
              <a:t>备注</a:t>
            </a:r>
            <a:r>
              <a:rPr lang="en-US" altLang="zh-CN" sz="2000" b="1" dirty="0">
                <a:latin typeface="+mn-ea"/>
                <a:ea typeface="+mn-ea"/>
              </a:rPr>
              <a:t>/</a:t>
            </a:r>
            <a:r>
              <a:rPr lang="zh-CN" altLang="en-US" sz="2000" b="1" dirty="0">
                <a:latin typeface="+mn-ea"/>
                <a:ea typeface="+mn-ea"/>
              </a:rPr>
              <a:t>描述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created_at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创建时间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updated_at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更新时间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82435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06EC0-8E49-613A-A65F-E96B07BC5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8">
            <a:extLst>
              <a:ext uri="{FF2B5EF4-FFF2-40B4-BE49-F238E27FC236}">
                <a16:creationId xmlns:a16="http://schemas.microsoft.com/office/drawing/2014/main" id="{EFDCC5F9-2095-C6FB-0C47-AE6908A3CEF1}"/>
              </a:ext>
            </a:extLst>
          </p:cNvPr>
          <p:cNvSpPr txBox="1"/>
          <p:nvPr/>
        </p:nvSpPr>
        <p:spPr>
          <a:xfrm>
            <a:off x="812751" y="87933"/>
            <a:ext cx="394915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概念结构设计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33A59C4-EAAE-FD4A-3035-7DE1EDF48C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133" y="6198107"/>
            <a:ext cx="1099536" cy="101786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7FE9AB9-D739-5959-E819-4219A62AC79C}"/>
              </a:ext>
            </a:extLst>
          </p:cNvPr>
          <p:cNvSpPr txBox="1"/>
          <p:nvPr/>
        </p:nvSpPr>
        <p:spPr>
          <a:xfrm>
            <a:off x="690984" y="518871"/>
            <a:ext cx="11476781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+mn-ea"/>
                <a:ea typeface="+mn-ea"/>
              </a:rPr>
              <a:t>(4) </a:t>
            </a:r>
            <a:r>
              <a:rPr lang="zh-CN" altLang="en-US" sz="2000" b="1" dirty="0">
                <a:latin typeface="+mn-ea"/>
                <a:ea typeface="+mn-ea"/>
              </a:rPr>
              <a:t>存储位置 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en-US" altLang="zh-CN" sz="2000" b="1" dirty="0" err="1">
                <a:latin typeface="+mn-ea"/>
                <a:ea typeface="+mn-ea"/>
              </a:rPr>
              <a:t>StorageLocation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r>
              <a:rPr lang="zh-CN" altLang="en-US" sz="2000" b="1" dirty="0">
                <a:latin typeface="+mn-ea"/>
                <a:ea typeface="+mn-ea"/>
              </a:rPr>
              <a:t>：媒体项在具体物理世界中的位置。一个媒体项可以有多个存储位置（例如：在台式机上有本地文件，在笔记本上也有，或者是一个网络 </a:t>
            </a:r>
            <a:r>
              <a:rPr lang="en-US" altLang="zh-CN" sz="2000" b="1" dirty="0">
                <a:latin typeface="+mn-ea"/>
                <a:ea typeface="+mn-ea"/>
              </a:rPr>
              <a:t>URL</a:t>
            </a:r>
            <a:r>
              <a:rPr lang="zh-CN" altLang="en-US" sz="2000" b="1" dirty="0">
                <a:latin typeface="+mn-ea"/>
                <a:ea typeface="+mn-ea"/>
              </a:rPr>
              <a:t>）。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location_id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唯一标识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storage_type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存储类型：</a:t>
            </a:r>
            <a:r>
              <a:rPr lang="en-US" altLang="zh-CN" sz="2000" b="1" dirty="0">
                <a:latin typeface="+mn-ea"/>
                <a:ea typeface="+mn-ea"/>
              </a:rPr>
              <a:t>Local/Web)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`path` (</a:t>
            </a:r>
            <a:r>
              <a:rPr lang="zh-CN" altLang="en-US" sz="2000" b="1" dirty="0">
                <a:latin typeface="+mn-ea"/>
                <a:ea typeface="+mn-ea"/>
              </a:rPr>
              <a:t>绝对路径 或 </a:t>
            </a:r>
            <a:r>
              <a:rPr lang="en-US" altLang="zh-CN" sz="2000" b="1" dirty="0">
                <a:latin typeface="+mn-ea"/>
                <a:ea typeface="+mn-ea"/>
              </a:rPr>
              <a:t>URL)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access_info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访问备注，如</a:t>
            </a:r>
            <a:r>
              <a:rPr lang="en-US" altLang="zh-CN" sz="2000" b="1" dirty="0">
                <a:latin typeface="+mn-ea"/>
                <a:ea typeface="+mn-ea"/>
              </a:rPr>
              <a:t>"</a:t>
            </a:r>
            <a:r>
              <a:rPr lang="zh-CN" altLang="en-US" sz="2000" b="1" dirty="0">
                <a:latin typeface="+mn-ea"/>
                <a:ea typeface="+mn-ea"/>
              </a:rPr>
              <a:t>需</a:t>
            </a:r>
            <a:r>
              <a:rPr lang="en-US" altLang="zh-CN" sz="2000" b="1" dirty="0">
                <a:latin typeface="+mn-ea"/>
                <a:ea typeface="+mn-ea"/>
              </a:rPr>
              <a:t>VPN"</a:t>
            </a:r>
            <a:r>
              <a:rPr lang="zh-CN" altLang="en-US" sz="2000" b="1" dirty="0">
                <a:latin typeface="+mn-ea"/>
                <a:ea typeface="+mn-ea"/>
              </a:rPr>
              <a:t>或</a:t>
            </a:r>
            <a:r>
              <a:rPr lang="en-US" altLang="zh-CN" sz="2000" b="1" dirty="0">
                <a:latin typeface="+mn-ea"/>
                <a:ea typeface="+mn-ea"/>
              </a:rPr>
              <a:t>"</a:t>
            </a:r>
            <a:r>
              <a:rPr lang="zh-CN" altLang="en-US" sz="2000" b="1" dirty="0">
                <a:latin typeface="+mn-ea"/>
                <a:ea typeface="+mn-ea"/>
              </a:rPr>
              <a:t>账号</a:t>
            </a:r>
            <a:r>
              <a:rPr lang="en-US" altLang="zh-CN" sz="2000" b="1" dirty="0">
                <a:latin typeface="+mn-ea"/>
                <a:ea typeface="+mn-ea"/>
              </a:rPr>
              <a:t>xxx")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is_available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当前是否可用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  <a:p>
            <a:endParaRPr lang="en-US" altLang="zh-CN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(5) </a:t>
            </a:r>
            <a:r>
              <a:rPr lang="zh-CN" altLang="en-US" sz="2000" b="1" dirty="0">
                <a:latin typeface="+mn-ea"/>
                <a:ea typeface="+mn-ea"/>
              </a:rPr>
              <a:t>文件夹 </a:t>
            </a:r>
            <a:r>
              <a:rPr lang="en-US" altLang="zh-CN" sz="2000" b="1" dirty="0">
                <a:latin typeface="+mn-ea"/>
                <a:ea typeface="+mn-ea"/>
              </a:rPr>
              <a:t>(Folder)</a:t>
            </a:r>
            <a:r>
              <a:rPr lang="zh-CN" altLang="en-US" sz="2000" b="1" dirty="0">
                <a:latin typeface="+mn-ea"/>
                <a:ea typeface="+mn-ea"/>
              </a:rPr>
              <a:t>：用于整理媒体项的虚拟容器，支持无限层级嵌套。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folder_id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唯一标识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folder_name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文件夹名称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parent_id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父文件夹</a:t>
            </a:r>
            <a:r>
              <a:rPr lang="en-US" altLang="zh-CN" sz="2000" b="1" dirty="0">
                <a:latin typeface="+mn-ea"/>
                <a:ea typeface="+mn-ea"/>
              </a:rPr>
              <a:t>ID</a:t>
            </a:r>
            <a:r>
              <a:rPr lang="zh-CN" altLang="en-US" sz="2000" b="1" dirty="0">
                <a:latin typeface="+mn-ea"/>
                <a:ea typeface="+mn-ea"/>
              </a:rPr>
              <a:t>，支持层级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user_id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所属用户</a:t>
            </a:r>
            <a:r>
              <a:rPr lang="en-US" altLang="zh-CN" sz="2000" b="1" dirty="0">
                <a:latin typeface="+mn-ea"/>
                <a:ea typeface="+mn-ea"/>
              </a:rPr>
              <a:t>ID)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created_at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创建时间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  <a:p>
            <a:br>
              <a:rPr lang="en-US" altLang="zh-CN" sz="2000" b="1" dirty="0">
                <a:latin typeface="+mn-ea"/>
                <a:ea typeface="+mn-ea"/>
              </a:rPr>
            </a:br>
            <a:r>
              <a:rPr lang="en-US" altLang="zh-CN" sz="2000" b="1" dirty="0">
                <a:latin typeface="+mn-ea"/>
                <a:ea typeface="+mn-ea"/>
              </a:rPr>
              <a:t> (6) </a:t>
            </a:r>
            <a:r>
              <a:rPr lang="zh-CN" altLang="en-US" sz="2000" b="1" dirty="0">
                <a:latin typeface="+mn-ea"/>
                <a:ea typeface="+mn-ea"/>
              </a:rPr>
              <a:t>标签 </a:t>
            </a:r>
            <a:r>
              <a:rPr lang="en-US" altLang="zh-CN" sz="2000" b="1" dirty="0">
                <a:latin typeface="+mn-ea"/>
                <a:ea typeface="+mn-ea"/>
              </a:rPr>
              <a:t>(Tag)</a:t>
            </a:r>
            <a:r>
              <a:rPr lang="zh-CN" altLang="en-US" sz="2000" b="1" dirty="0">
                <a:latin typeface="+mn-ea"/>
                <a:ea typeface="+mn-ea"/>
              </a:rPr>
              <a:t>：用于灵活分类的标签。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tag_id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唯一标识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tag_name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标签名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user_id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所属用户</a:t>
            </a:r>
            <a:r>
              <a:rPr lang="en-US" altLang="zh-CN" sz="2000" b="1" dirty="0">
                <a:latin typeface="+mn-ea"/>
                <a:ea typeface="+mn-ea"/>
              </a:rPr>
              <a:t>ID)</a:t>
            </a:r>
            <a:endParaRPr lang="zh-CN" altLang="en-US" sz="2000" b="1" dirty="0">
              <a:latin typeface="+mn-ea"/>
              <a:ea typeface="+mn-ea"/>
              <a:sym typeface="Lato" charset="0"/>
            </a:endParaRPr>
          </a:p>
          <a:p>
            <a:pPr>
              <a:buNone/>
            </a:pPr>
            <a:endParaRPr lang="zh-CN" altLang="en-US" sz="20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543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06890-7930-FA09-98CF-B7D3B148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8">
            <a:extLst>
              <a:ext uri="{FF2B5EF4-FFF2-40B4-BE49-F238E27FC236}">
                <a16:creationId xmlns:a16="http://schemas.microsoft.com/office/drawing/2014/main" id="{E489962B-0664-E153-FAD0-83B27D1369B4}"/>
              </a:ext>
            </a:extLst>
          </p:cNvPr>
          <p:cNvSpPr txBox="1"/>
          <p:nvPr/>
        </p:nvSpPr>
        <p:spPr>
          <a:xfrm>
            <a:off x="812751" y="87933"/>
            <a:ext cx="394915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概念结构设计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A911623-9B1D-1BA4-1084-8BAC244624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133" y="6198107"/>
            <a:ext cx="1099536" cy="101786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82EA9DA-6AA7-3637-BB27-D7863F512AC2}"/>
              </a:ext>
            </a:extLst>
          </p:cNvPr>
          <p:cNvSpPr txBox="1"/>
          <p:nvPr/>
        </p:nvSpPr>
        <p:spPr>
          <a:xfrm>
            <a:off x="690984" y="518871"/>
            <a:ext cx="1147678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>
                <a:effectLst/>
                <a:latin typeface="+mn-ea"/>
                <a:ea typeface="+mn-ea"/>
              </a:rPr>
              <a:t>它们之间对应的关系为：</a:t>
            </a:r>
            <a:endParaRPr lang="en-US" altLang="zh-CN" sz="2000" b="1" dirty="0">
              <a:effectLst/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1.</a:t>
            </a:r>
            <a:r>
              <a:rPr lang="zh-CN" altLang="en-US" sz="2000" b="1" dirty="0">
                <a:latin typeface="+mn-ea"/>
                <a:ea typeface="+mn-ea"/>
              </a:rPr>
              <a:t> 用户 </a:t>
            </a:r>
            <a:r>
              <a:rPr lang="en-US" altLang="zh-CN" sz="2000" b="1" dirty="0">
                <a:latin typeface="+mn-ea"/>
                <a:ea typeface="+mn-ea"/>
              </a:rPr>
              <a:t>- </a:t>
            </a:r>
            <a:r>
              <a:rPr lang="zh-CN" altLang="en-US" sz="2000" b="1" dirty="0">
                <a:latin typeface="+mn-ea"/>
                <a:ea typeface="+mn-ea"/>
              </a:rPr>
              <a:t>设备 </a:t>
            </a:r>
            <a:r>
              <a:rPr lang="en-US" altLang="zh-CN" sz="2000" b="1" dirty="0">
                <a:latin typeface="+mn-ea"/>
                <a:ea typeface="+mn-ea"/>
              </a:rPr>
              <a:t>(1:N)</a:t>
            </a:r>
            <a:r>
              <a:rPr lang="zh-CN" altLang="en-US" sz="2000" b="1" dirty="0">
                <a:latin typeface="+mn-ea"/>
                <a:ea typeface="+mn-ea"/>
              </a:rPr>
              <a:t>：一个用户可以拥有多个设备；一个设备属于一个用户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2.</a:t>
            </a:r>
            <a:r>
              <a:rPr lang="zh-CN" altLang="en-US" sz="2000" b="1" dirty="0">
                <a:latin typeface="+mn-ea"/>
                <a:ea typeface="+mn-ea"/>
              </a:rPr>
              <a:t> 用户 </a:t>
            </a:r>
            <a:r>
              <a:rPr lang="en-US" altLang="zh-CN" sz="2000" b="1" dirty="0">
                <a:latin typeface="+mn-ea"/>
                <a:ea typeface="+mn-ea"/>
              </a:rPr>
              <a:t>- </a:t>
            </a:r>
            <a:r>
              <a:rPr lang="zh-CN" altLang="en-US" sz="2000" b="1" dirty="0">
                <a:latin typeface="+mn-ea"/>
                <a:ea typeface="+mn-ea"/>
              </a:rPr>
              <a:t>媒体项 </a:t>
            </a:r>
            <a:r>
              <a:rPr lang="en-US" altLang="zh-CN" sz="2000" b="1" dirty="0">
                <a:latin typeface="+mn-ea"/>
                <a:ea typeface="+mn-ea"/>
              </a:rPr>
              <a:t>(1:N)</a:t>
            </a:r>
            <a:r>
              <a:rPr lang="zh-CN" altLang="en-US" sz="2000" b="1" dirty="0">
                <a:latin typeface="+mn-ea"/>
                <a:ea typeface="+mn-ea"/>
              </a:rPr>
              <a:t>：一个用户拥有多个媒体项。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3.</a:t>
            </a:r>
            <a:r>
              <a:rPr lang="zh-CN" altLang="en-US" sz="2000" b="1" dirty="0">
                <a:latin typeface="+mn-ea"/>
                <a:ea typeface="+mn-ea"/>
              </a:rPr>
              <a:t> 文件夹 </a:t>
            </a:r>
            <a:r>
              <a:rPr lang="en-US" altLang="zh-CN" sz="2000" b="1" dirty="0">
                <a:latin typeface="+mn-ea"/>
                <a:ea typeface="+mn-ea"/>
              </a:rPr>
              <a:t>- </a:t>
            </a:r>
            <a:r>
              <a:rPr lang="zh-CN" altLang="en-US" sz="2000" b="1" dirty="0">
                <a:latin typeface="+mn-ea"/>
                <a:ea typeface="+mn-ea"/>
              </a:rPr>
              <a:t>文件夹 </a:t>
            </a:r>
            <a:r>
              <a:rPr lang="en-US" altLang="zh-CN" sz="2000" b="1" dirty="0">
                <a:latin typeface="+mn-ea"/>
                <a:ea typeface="+mn-ea"/>
              </a:rPr>
              <a:t>(1:N, </a:t>
            </a:r>
            <a:r>
              <a:rPr lang="zh-CN" altLang="en-US" sz="2000" b="1" dirty="0">
                <a:latin typeface="+mn-ea"/>
                <a:ea typeface="+mn-ea"/>
              </a:rPr>
              <a:t>自关联</a:t>
            </a:r>
            <a:r>
              <a:rPr lang="en-US" altLang="zh-CN" sz="2000" b="1" dirty="0">
                <a:latin typeface="+mn-ea"/>
                <a:ea typeface="+mn-ea"/>
              </a:rPr>
              <a:t>) </a:t>
            </a:r>
            <a:r>
              <a:rPr lang="zh-CN" altLang="en-US" sz="2000" b="1" dirty="0">
                <a:latin typeface="+mn-ea"/>
                <a:ea typeface="+mn-ea"/>
              </a:rPr>
              <a:t>：一个文件夹可以包含多个子文件夹。一个子文件夹属于一个父文件夹。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4.</a:t>
            </a:r>
            <a:r>
              <a:rPr lang="zh-CN" altLang="en-US" sz="2000" b="1" dirty="0">
                <a:latin typeface="+mn-ea"/>
                <a:ea typeface="+mn-ea"/>
              </a:rPr>
              <a:t> 文件夹 </a:t>
            </a:r>
            <a:r>
              <a:rPr lang="en-US" altLang="zh-CN" sz="2000" b="1" dirty="0">
                <a:latin typeface="+mn-ea"/>
                <a:ea typeface="+mn-ea"/>
              </a:rPr>
              <a:t>- </a:t>
            </a:r>
            <a:r>
              <a:rPr lang="zh-CN" altLang="en-US" sz="2000" b="1" dirty="0">
                <a:latin typeface="+mn-ea"/>
                <a:ea typeface="+mn-ea"/>
              </a:rPr>
              <a:t>媒体项 </a:t>
            </a:r>
            <a:r>
              <a:rPr lang="en-US" altLang="zh-CN" sz="2000" b="1" dirty="0">
                <a:latin typeface="+mn-ea"/>
                <a:ea typeface="+mn-ea"/>
              </a:rPr>
              <a:t>(1:N)</a:t>
            </a:r>
            <a:r>
              <a:rPr lang="zh-CN" altLang="en-US" sz="2000" b="1" dirty="0">
                <a:latin typeface="+mn-ea"/>
                <a:ea typeface="+mn-ea"/>
              </a:rPr>
              <a:t>：一个文件夹可以包含多个媒体项。一个媒体项属于一个文件夹（类似文件系统逻辑）。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5.</a:t>
            </a:r>
            <a:r>
              <a:rPr lang="zh-CN" altLang="en-US" sz="2000" b="1" dirty="0">
                <a:latin typeface="+mn-ea"/>
                <a:ea typeface="+mn-ea"/>
              </a:rPr>
              <a:t> 媒体项 </a:t>
            </a:r>
            <a:r>
              <a:rPr lang="en-US" altLang="zh-CN" sz="2000" b="1" dirty="0">
                <a:latin typeface="+mn-ea"/>
                <a:ea typeface="+mn-ea"/>
              </a:rPr>
              <a:t>- </a:t>
            </a:r>
            <a:r>
              <a:rPr lang="zh-CN" altLang="en-US" sz="2000" b="1" dirty="0">
                <a:latin typeface="+mn-ea"/>
                <a:ea typeface="+mn-ea"/>
              </a:rPr>
              <a:t>存储位置 </a:t>
            </a:r>
            <a:r>
              <a:rPr lang="en-US" altLang="zh-CN" sz="2000" b="1" dirty="0">
                <a:latin typeface="+mn-ea"/>
                <a:ea typeface="+mn-ea"/>
              </a:rPr>
              <a:t>(1:N)</a:t>
            </a:r>
            <a:r>
              <a:rPr lang="zh-CN" altLang="en-US" sz="2000" b="1" dirty="0">
                <a:latin typeface="+mn-ea"/>
                <a:ea typeface="+mn-ea"/>
              </a:rPr>
              <a:t>：核心设计**：一个媒体项（逻辑内容）可以对应多个存储位置（物理副本）。</a:t>
            </a:r>
            <a:r>
              <a:rPr lang="zh-CN" altLang="en-US" sz="2000" b="1" i="1" dirty="0">
                <a:latin typeface="+mn-ea"/>
                <a:ea typeface="+mn-ea"/>
              </a:rPr>
              <a:t>例如</a:t>
            </a:r>
            <a:r>
              <a:rPr lang="zh-CN" altLang="en-US" sz="2000" b="1" dirty="0">
                <a:latin typeface="+mn-ea"/>
                <a:ea typeface="+mn-ea"/>
              </a:rPr>
              <a:t>：电影</a:t>
            </a:r>
            <a:r>
              <a:rPr lang="en-US" altLang="zh-CN" sz="2000" b="1" dirty="0">
                <a:latin typeface="+mn-ea"/>
                <a:ea typeface="+mn-ea"/>
              </a:rPr>
              <a:t>《</a:t>
            </a:r>
            <a:r>
              <a:rPr lang="zh-CN" altLang="en-US" sz="2000" b="1" dirty="0">
                <a:latin typeface="+mn-ea"/>
                <a:ea typeface="+mn-ea"/>
              </a:rPr>
              <a:t>黑客帝国</a:t>
            </a:r>
            <a:r>
              <a:rPr lang="en-US" altLang="zh-CN" sz="2000" b="1" dirty="0">
                <a:latin typeface="+mn-ea"/>
                <a:ea typeface="+mn-ea"/>
              </a:rPr>
              <a:t>》</a:t>
            </a:r>
            <a:r>
              <a:rPr lang="zh-CN" altLang="en-US" sz="2000" b="1" dirty="0">
                <a:latin typeface="+mn-ea"/>
                <a:ea typeface="+mn-ea"/>
              </a:rPr>
              <a:t>是一个 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MediaItem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，它在台式机 </a:t>
            </a:r>
            <a:r>
              <a:rPr lang="en-US" altLang="zh-CN" sz="2000" b="1" dirty="0">
                <a:latin typeface="+mn-ea"/>
                <a:ea typeface="+mn-ea"/>
              </a:rPr>
              <a:t>`D:\Movies`</a:t>
            </a:r>
            <a:r>
              <a:rPr lang="zh-CN" altLang="en-US" sz="2000" b="1" dirty="0">
                <a:latin typeface="+mn-ea"/>
                <a:ea typeface="+mn-ea"/>
              </a:rPr>
              <a:t> 有一个 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StorageLocation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，在笔记本 </a:t>
            </a:r>
            <a:r>
              <a:rPr lang="en-US" altLang="zh-CN" sz="2000" b="1" dirty="0">
                <a:latin typeface="+mn-ea"/>
                <a:ea typeface="+mn-ea"/>
              </a:rPr>
              <a:t>`C:\Users\Movies`</a:t>
            </a:r>
            <a:r>
              <a:rPr lang="zh-CN" altLang="en-US" sz="2000" b="1" dirty="0">
                <a:latin typeface="+mn-ea"/>
                <a:ea typeface="+mn-ea"/>
              </a:rPr>
              <a:t> 也有一个 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StorageLocation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。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6.</a:t>
            </a:r>
            <a:r>
              <a:rPr lang="zh-CN" altLang="en-US" sz="2000" b="1" dirty="0">
                <a:latin typeface="+mn-ea"/>
                <a:ea typeface="+mn-ea"/>
              </a:rPr>
              <a:t>  设备 </a:t>
            </a:r>
            <a:r>
              <a:rPr lang="en-US" altLang="zh-CN" sz="2000" b="1" dirty="0">
                <a:latin typeface="+mn-ea"/>
                <a:ea typeface="+mn-ea"/>
              </a:rPr>
              <a:t>- </a:t>
            </a:r>
            <a:r>
              <a:rPr lang="zh-CN" altLang="en-US" sz="2000" b="1" dirty="0">
                <a:latin typeface="+mn-ea"/>
                <a:ea typeface="+mn-ea"/>
              </a:rPr>
              <a:t>存储位置 </a:t>
            </a:r>
            <a:r>
              <a:rPr lang="en-US" altLang="zh-CN" sz="2000" b="1" dirty="0">
                <a:latin typeface="+mn-ea"/>
                <a:ea typeface="+mn-ea"/>
              </a:rPr>
              <a:t>(1:N)</a:t>
            </a:r>
            <a:r>
              <a:rPr lang="zh-CN" altLang="en-US" sz="2000" b="1" dirty="0">
                <a:latin typeface="+mn-ea"/>
                <a:ea typeface="+mn-ea"/>
              </a:rPr>
              <a:t>：一个存储位置（如果是本地文件）必须依附于一个设备。如果是 </a:t>
            </a:r>
            <a:r>
              <a:rPr lang="en-US" altLang="zh-CN" sz="2000" b="1" dirty="0">
                <a:latin typeface="+mn-ea"/>
                <a:ea typeface="+mn-ea"/>
              </a:rPr>
              <a:t>Web URL </a:t>
            </a:r>
            <a:r>
              <a:rPr lang="zh-CN" altLang="en-US" sz="2000" b="1" dirty="0">
                <a:latin typeface="+mn-ea"/>
                <a:ea typeface="+mn-ea"/>
              </a:rPr>
              <a:t>类型的存储位置，设备字段可为空。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7.</a:t>
            </a:r>
            <a:r>
              <a:rPr lang="zh-CN" altLang="en-US" sz="2000" b="1" dirty="0">
                <a:latin typeface="+mn-ea"/>
                <a:ea typeface="+mn-ea"/>
              </a:rPr>
              <a:t>  媒体项 </a:t>
            </a:r>
            <a:r>
              <a:rPr lang="en-US" altLang="zh-CN" sz="2000" b="1" dirty="0">
                <a:latin typeface="+mn-ea"/>
                <a:ea typeface="+mn-ea"/>
              </a:rPr>
              <a:t>- </a:t>
            </a:r>
            <a:r>
              <a:rPr lang="zh-CN" altLang="en-US" sz="2000" b="1" dirty="0">
                <a:latin typeface="+mn-ea"/>
                <a:ea typeface="+mn-ea"/>
              </a:rPr>
              <a:t>标签 </a:t>
            </a:r>
            <a:r>
              <a:rPr lang="en-US" altLang="zh-CN" sz="2000" b="1" dirty="0">
                <a:latin typeface="+mn-ea"/>
                <a:ea typeface="+mn-ea"/>
              </a:rPr>
              <a:t>(M:N)</a:t>
            </a:r>
            <a:r>
              <a:rPr lang="zh-CN" altLang="en-US" sz="2000" b="1" dirty="0">
                <a:latin typeface="+mn-ea"/>
                <a:ea typeface="+mn-ea"/>
              </a:rPr>
              <a:t>：一个媒体项可以打多个标签。一个标签可以关联多个媒体项。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8.</a:t>
            </a:r>
            <a:r>
              <a:rPr lang="zh-CN" altLang="en-US" sz="2000" b="1" dirty="0">
                <a:latin typeface="+mn-ea"/>
                <a:ea typeface="+mn-ea"/>
              </a:rPr>
              <a:t>  用户 </a:t>
            </a:r>
            <a:r>
              <a:rPr lang="en-US" altLang="zh-CN" sz="2000" b="1" dirty="0">
                <a:latin typeface="+mn-ea"/>
                <a:ea typeface="+mn-ea"/>
              </a:rPr>
              <a:t>- </a:t>
            </a:r>
            <a:r>
              <a:rPr lang="zh-CN" altLang="en-US" sz="2000" b="1" dirty="0">
                <a:latin typeface="+mn-ea"/>
                <a:ea typeface="+mn-ea"/>
              </a:rPr>
              <a:t>标签（</a:t>
            </a:r>
            <a:r>
              <a:rPr lang="en-US" altLang="zh-CN" sz="2000" b="1" dirty="0">
                <a:latin typeface="+mn-ea"/>
                <a:ea typeface="+mn-ea"/>
              </a:rPr>
              <a:t>1:N</a:t>
            </a:r>
            <a:r>
              <a:rPr lang="zh-CN" altLang="en-US" sz="2000" b="1" dirty="0">
                <a:latin typeface="+mn-ea"/>
                <a:ea typeface="+mn-ea"/>
              </a:rPr>
              <a:t>）一个用户可以自定义多个标签。一个标签属于一个用户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9.</a:t>
            </a:r>
            <a:r>
              <a:rPr lang="zh-CN" altLang="en-US" sz="2000" b="1" dirty="0">
                <a:latin typeface="+mn-ea"/>
                <a:ea typeface="+mn-ea"/>
              </a:rPr>
              <a:t>  用户 </a:t>
            </a:r>
            <a:r>
              <a:rPr lang="en-US" altLang="zh-CN" sz="2000" b="1" dirty="0">
                <a:latin typeface="+mn-ea"/>
                <a:ea typeface="+mn-ea"/>
              </a:rPr>
              <a:t>- </a:t>
            </a:r>
            <a:r>
              <a:rPr lang="zh-CN" altLang="en-US" sz="2000" b="1" dirty="0">
                <a:latin typeface="+mn-ea"/>
                <a:ea typeface="+mn-ea"/>
              </a:rPr>
              <a:t>文件夹（</a:t>
            </a:r>
            <a:r>
              <a:rPr lang="en-US" altLang="zh-CN" sz="2000" b="1" dirty="0">
                <a:latin typeface="+mn-ea"/>
                <a:ea typeface="+mn-ea"/>
              </a:rPr>
              <a:t>1:N</a:t>
            </a:r>
            <a:r>
              <a:rPr lang="zh-CN" altLang="en-US" sz="2000" b="1" dirty="0">
                <a:latin typeface="+mn-ea"/>
                <a:ea typeface="+mn-ea"/>
              </a:rPr>
              <a:t>）一个用户可以自定义多个文件夹。一个文件夹属于一个用户。</a:t>
            </a:r>
          </a:p>
          <a:p>
            <a:pPr>
              <a:buNone/>
            </a:pPr>
            <a:endParaRPr lang="zh-CN" altLang="en-US" sz="2000" b="1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825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22A6A-0D09-4F79-72FE-CDFBCCCC9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8">
            <a:extLst>
              <a:ext uri="{FF2B5EF4-FFF2-40B4-BE49-F238E27FC236}">
                <a16:creationId xmlns:a16="http://schemas.microsoft.com/office/drawing/2014/main" id="{106F5EAB-F356-7515-2A0F-E49D72790A79}"/>
              </a:ext>
            </a:extLst>
          </p:cNvPr>
          <p:cNvSpPr txBox="1"/>
          <p:nvPr/>
        </p:nvSpPr>
        <p:spPr>
          <a:xfrm>
            <a:off x="812751" y="87933"/>
            <a:ext cx="394915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ER</a:t>
            </a: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图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02512A1-EC43-54CF-71F1-2CFEFCC816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133" y="6198107"/>
            <a:ext cx="1099536" cy="101786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A5BA5CF-1A84-3CB2-50FC-9AD9A11D17FF}"/>
              </a:ext>
            </a:extLst>
          </p:cNvPr>
          <p:cNvSpPr txBox="1"/>
          <p:nvPr/>
        </p:nvSpPr>
        <p:spPr>
          <a:xfrm>
            <a:off x="690984" y="518871"/>
            <a:ext cx="114767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>
                <a:effectLst/>
                <a:latin typeface="+mn-ea"/>
                <a:ea typeface="+mn-ea"/>
              </a:rPr>
              <a:t>该关系对应的</a:t>
            </a:r>
            <a:r>
              <a:rPr lang="en-US" altLang="zh-CN" sz="2000" b="1" dirty="0">
                <a:effectLst/>
                <a:latin typeface="+mn-ea"/>
                <a:ea typeface="+mn-ea"/>
              </a:rPr>
              <a:t>ER</a:t>
            </a:r>
            <a:r>
              <a:rPr lang="zh-CN" altLang="en-US" sz="2000" b="1" dirty="0">
                <a:effectLst/>
                <a:latin typeface="+mn-ea"/>
                <a:ea typeface="+mn-ea"/>
              </a:rPr>
              <a:t>图为：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42E74F-60FD-38C3-BEC5-07E35D232A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23" y="918982"/>
            <a:ext cx="8622380" cy="629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764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F469C-3675-9E6A-A3DB-E8281C948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8">
            <a:extLst>
              <a:ext uri="{FF2B5EF4-FFF2-40B4-BE49-F238E27FC236}">
                <a16:creationId xmlns:a16="http://schemas.microsoft.com/office/drawing/2014/main" id="{5868DA18-9980-74B1-1E99-634F148CC8E5}"/>
              </a:ext>
            </a:extLst>
          </p:cNvPr>
          <p:cNvSpPr txBox="1"/>
          <p:nvPr/>
        </p:nvSpPr>
        <p:spPr>
          <a:xfrm>
            <a:off x="812751" y="87933"/>
            <a:ext cx="394915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概念结构设计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C640C3F-D230-A696-9B26-D03A793901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133" y="6198107"/>
            <a:ext cx="1099536" cy="101786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FE7B625-84CB-81E8-B483-DA2E6B6E2CE9}"/>
              </a:ext>
            </a:extLst>
          </p:cNvPr>
          <p:cNvSpPr txBox="1"/>
          <p:nvPr/>
        </p:nvSpPr>
        <p:spPr>
          <a:xfrm>
            <a:off x="690984" y="518871"/>
            <a:ext cx="11476781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  <a:ea typeface="+mn-ea"/>
              </a:rPr>
              <a:t>关键设计决策说明：</a:t>
            </a:r>
            <a:endParaRPr lang="en-US" altLang="zh-CN" sz="2000" b="1" dirty="0">
              <a:latin typeface="+mn-ea"/>
              <a:ea typeface="+mn-ea"/>
            </a:endParaRPr>
          </a:p>
          <a:p>
            <a:endParaRPr lang="zh-CN" altLang="en-US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1.</a:t>
            </a:r>
            <a:r>
              <a:rPr lang="zh-CN" altLang="en-US" sz="2000" b="1" dirty="0">
                <a:latin typeface="+mn-ea"/>
                <a:ea typeface="+mn-ea"/>
              </a:rPr>
              <a:t>为什么拆分 </a:t>
            </a:r>
            <a:r>
              <a:rPr lang="en-US" altLang="zh-CN" sz="2000" b="1" dirty="0" err="1">
                <a:latin typeface="+mn-ea"/>
                <a:ea typeface="+mn-ea"/>
              </a:rPr>
              <a:t>MediaItem</a:t>
            </a:r>
            <a:r>
              <a:rPr lang="en-US" altLang="zh-CN" sz="2000" b="1" dirty="0">
                <a:latin typeface="+mn-ea"/>
                <a:ea typeface="+mn-ea"/>
              </a:rPr>
              <a:t> </a:t>
            </a:r>
            <a:r>
              <a:rPr lang="zh-CN" altLang="en-US" sz="2000" b="1" dirty="0">
                <a:latin typeface="+mn-ea"/>
                <a:ea typeface="+mn-ea"/>
              </a:rPr>
              <a:t>和 </a:t>
            </a:r>
            <a:r>
              <a:rPr lang="en-US" altLang="zh-CN" sz="2000" b="1" dirty="0" err="1">
                <a:latin typeface="+mn-ea"/>
                <a:ea typeface="+mn-ea"/>
              </a:rPr>
              <a:t>StorageLocation</a:t>
            </a:r>
            <a:r>
              <a:rPr lang="zh-CN" altLang="en-US" sz="2000" b="1" dirty="0">
                <a:latin typeface="+mn-ea"/>
                <a:ea typeface="+mn-ea"/>
              </a:rPr>
              <a:t>？</a:t>
            </a:r>
            <a:endParaRPr lang="en-US" altLang="zh-CN" sz="2000" b="1" dirty="0">
              <a:latin typeface="+mn-ea"/>
              <a:ea typeface="+mn-ea"/>
            </a:endParaRPr>
          </a:p>
          <a:p>
            <a:endParaRPr lang="zh-CN" altLang="en-US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这是支持单用户多设备和混合存储的关键。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传统设计是在 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MediaItem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 表中直接存 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file_path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。这样会导致一个问题，如果用户有两台电脑，文件路径不同（</a:t>
            </a:r>
            <a:r>
              <a:rPr lang="en-US" altLang="zh-CN" sz="2000" b="1" dirty="0">
                <a:latin typeface="+mn-ea"/>
                <a:ea typeface="+mn-ea"/>
              </a:rPr>
              <a:t>D</a:t>
            </a:r>
            <a:r>
              <a:rPr lang="zh-CN" altLang="en-US" sz="2000" b="1" dirty="0">
                <a:latin typeface="+mn-ea"/>
                <a:ea typeface="+mn-ea"/>
              </a:rPr>
              <a:t>盘 </a:t>
            </a:r>
            <a:r>
              <a:rPr lang="en-US" altLang="zh-CN" sz="2000" b="1" dirty="0">
                <a:latin typeface="+mn-ea"/>
                <a:ea typeface="+mn-ea"/>
              </a:rPr>
              <a:t>vs C</a:t>
            </a:r>
            <a:r>
              <a:rPr lang="zh-CN" altLang="en-US" sz="2000" b="1" dirty="0">
                <a:latin typeface="+mn-ea"/>
                <a:ea typeface="+mn-ea"/>
              </a:rPr>
              <a:t>盘），或者文件移动了，就很难管理。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所以我们决定用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MediaItem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 代表“这个资源是什么”（如：课程视频）。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StorageLocation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 代表“它在哪里”（如：台式机</a:t>
            </a:r>
            <a:r>
              <a:rPr lang="en-US" altLang="zh-CN" sz="2000" b="1" dirty="0">
                <a:latin typeface="+mn-ea"/>
                <a:ea typeface="+mn-ea"/>
              </a:rPr>
              <a:t>D</a:t>
            </a:r>
            <a:r>
              <a:rPr lang="zh-CN" altLang="en-US" sz="2000" b="1" dirty="0">
                <a:latin typeface="+mn-ea"/>
                <a:ea typeface="+mn-ea"/>
              </a:rPr>
              <a:t>盘、</a:t>
            </a:r>
            <a:r>
              <a:rPr lang="en-US" altLang="zh-CN" sz="2000" b="1" dirty="0">
                <a:latin typeface="+mn-ea"/>
                <a:ea typeface="+mn-ea"/>
              </a:rPr>
              <a:t>B</a:t>
            </a:r>
            <a:r>
              <a:rPr lang="zh-CN" altLang="en-US" sz="2000" b="1" dirty="0">
                <a:latin typeface="+mn-ea"/>
                <a:ea typeface="+mn-ea"/>
              </a:rPr>
              <a:t>站链接）。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这样设计允许同一个资源在不同设备上有不同的路径，或者同时拥有本地副本和网络链接。</a:t>
            </a:r>
          </a:p>
          <a:p>
            <a:endParaRPr lang="en-US" altLang="zh-CN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2 </a:t>
            </a:r>
            <a:r>
              <a:rPr lang="zh-CN" altLang="en-US" sz="2000" b="1" dirty="0">
                <a:latin typeface="+mn-ea"/>
                <a:ea typeface="+mn-ea"/>
              </a:rPr>
              <a:t>为什么使用虚拟文件夹而非物理文件夹</a:t>
            </a:r>
            <a:r>
              <a:rPr lang="en-US" altLang="zh-CN" sz="2000" b="1" dirty="0">
                <a:latin typeface="+mn-ea"/>
                <a:ea typeface="+mn-ea"/>
              </a:rPr>
              <a:t>?</a:t>
            </a:r>
          </a:p>
          <a:p>
            <a:endParaRPr lang="zh-CN" altLang="en-US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我们选择了虚拟文件夹设计。这样数据库中的 </a:t>
            </a:r>
            <a:r>
              <a:rPr lang="en-US" altLang="zh-CN" sz="2000" b="1" dirty="0">
                <a:latin typeface="+mn-ea"/>
                <a:ea typeface="+mn-ea"/>
              </a:rPr>
              <a:t>`Folder`</a:t>
            </a:r>
            <a:r>
              <a:rPr lang="zh-CN" altLang="en-US" sz="2000" b="1" dirty="0">
                <a:latin typeface="+mn-ea"/>
                <a:ea typeface="+mn-ea"/>
              </a:rPr>
              <a:t> 结构完全独立于硬盘上的物理文件夹结构。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其优势在于：用户可以按照自己的逻辑（如“学习</a:t>
            </a:r>
            <a:r>
              <a:rPr lang="en-US" altLang="zh-CN" sz="2000" b="1" dirty="0">
                <a:latin typeface="+mn-ea"/>
                <a:ea typeface="+mn-ea"/>
              </a:rPr>
              <a:t>/</a:t>
            </a:r>
            <a:r>
              <a:rPr lang="zh-CN" altLang="en-US" sz="2000" b="1" dirty="0">
                <a:latin typeface="+mn-ea"/>
                <a:ea typeface="+mn-ea"/>
              </a:rPr>
              <a:t>娱乐”）整理资源，而不需要移动硬盘上的实际文件，避免破坏其他软件的文件关联。</a:t>
            </a:r>
          </a:p>
          <a:p>
            <a:endParaRPr lang="en-US" altLang="zh-CN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3 </a:t>
            </a:r>
            <a:r>
              <a:rPr lang="zh-CN" altLang="en-US" sz="2000" b="1" dirty="0">
                <a:latin typeface="+mn-ea"/>
                <a:ea typeface="+mn-ea"/>
              </a:rPr>
              <a:t>标签 </a:t>
            </a:r>
            <a:r>
              <a:rPr lang="en-US" altLang="zh-CN" sz="2000" b="1" dirty="0">
                <a:latin typeface="+mn-ea"/>
                <a:ea typeface="+mn-ea"/>
              </a:rPr>
              <a:t>(Tag) </a:t>
            </a:r>
            <a:r>
              <a:rPr lang="zh-CN" altLang="en-US" sz="2000" b="1" dirty="0">
                <a:latin typeface="+mn-ea"/>
                <a:ea typeface="+mn-ea"/>
              </a:rPr>
              <a:t>的 </a:t>
            </a:r>
            <a:r>
              <a:rPr lang="en-US" altLang="zh-CN" sz="2000" b="1" dirty="0">
                <a:latin typeface="+mn-ea"/>
                <a:ea typeface="+mn-ea"/>
              </a:rPr>
              <a:t>M:N </a:t>
            </a:r>
            <a:r>
              <a:rPr lang="zh-CN" altLang="en-US" sz="2000" b="1" dirty="0">
                <a:latin typeface="+mn-ea"/>
                <a:ea typeface="+mn-ea"/>
              </a:rPr>
              <a:t>设计</a:t>
            </a:r>
            <a:endParaRPr lang="en-US" altLang="zh-CN" sz="2000" b="1" dirty="0">
              <a:latin typeface="+mn-ea"/>
              <a:ea typeface="+mn-ea"/>
            </a:endParaRPr>
          </a:p>
          <a:p>
            <a:endParaRPr lang="zh-CN" altLang="en-US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为了提供比文件夹更灵活的分类维度，采用了多对多关系。需要引入一个中间表（在逻辑设计阶段体现）来实现 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MediaItem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 和 </a:t>
            </a:r>
            <a:r>
              <a:rPr lang="en-US" altLang="zh-CN" sz="2000" b="1" dirty="0">
                <a:latin typeface="+mn-ea"/>
                <a:ea typeface="+mn-ea"/>
              </a:rPr>
              <a:t>`Tag`</a:t>
            </a:r>
            <a:r>
              <a:rPr lang="zh-CN" altLang="en-US" sz="2000" b="1" dirty="0">
                <a:latin typeface="+mn-ea"/>
                <a:ea typeface="+mn-ea"/>
              </a:rPr>
              <a:t> 的关联。</a:t>
            </a:r>
          </a:p>
          <a:p>
            <a:endParaRPr lang="en-US" altLang="zh-CN" sz="2000" dirty="0"/>
          </a:p>
          <a:p>
            <a:endParaRPr lang="zh-CN" altLang="en-US" sz="2000" dirty="0"/>
          </a:p>
          <a:p>
            <a:pPr>
              <a:buNone/>
            </a:pPr>
            <a:endParaRPr lang="zh-CN" altLang="en-US" sz="2000" b="1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91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238836" y="3493251"/>
            <a:ext cx="4381081" cy="96997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720" tIns="36359" rIns="72720" bIns="36359" rtlCol="0" anchor="ctr"/>
          <a:lstStyle/>
          <a:p>
            <a:pPr algn="ctr"/>
            <a:endParaRPr lang="zh-CN" altLang="en-US" sz="1509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919165" y="2214894"/>
            <a:ext cx="1020423" cy="102042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  <a:endParaRPr lang="zh-CN" altLang="en-US" sz="4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Entry_1"/>
          <p:cNvSpPr/>
          <p:nvPr>
            <p:custDataLst>
              <p:tags r:id="rId1"/>
            </p:custDataLst>
          </p:nvPr>
        </p:nvSpPr>
        <p:spPr>
          <a:xfrm>
            <a:off x="5161472" y="3731950"/>
            <a:ext cx="2535812" cy="492571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34255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7 w 2520280"/>
              <a:gd name="connsiteY4" fmla="*/ 6036 h 1872208"/>
              <a:gd name="connsiteX5" fmla="*/ 0 w 2520280"/>
              <a:gd name="connsiteY5" fmla="*/ 0 h 1872208"/>
              <a:gd name="connsiteX0" fmla="*/ 0 w 2520280"/>
              <a:gd name="connsiteY0" fmla="*/ 1890314 h 1890314"/>
              <a:gd name="connsiteX1" fmla="*/ 2520280 w 2520280"/>
              <a:gd name="connsiteY1" fmla="*/ 1890314 h 1890314"/>
              <a:gd name="connsiteX2" fmla="*/ 0 w 2520280"/>
              <a:gd name="connsiteY2" fmla="*/ 1890314 h 1890314"/>
              <a:gd name="connsiteX3" fmla="*/ 0 w 2520280"/>
              <a:gd name="connsiteY3" fmla="*/ 18106 h 1890314"/>
              <a:gd name="connsiteX4" fmla="*/ 53304 w 2520280"/>
              <a:gd name="connsiteY4" fmla="*/ 0 h 1890314"/>
              <a:gd name="connsiteX5" fmla="*/ 0 w 2520280"/>
              <a:gd name="connsiteY5" fmla="*/ 18106 h 1890314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6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20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逻辑结构设计</a:t>
            </a:r>
            <a:endParaRPr lang="zh-CN" altLang="en-US" sz="140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298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0">
        <p15:prstTrans prst="wind"/>
      </p:transition>
    </mc:Choice>
    <mc:Fallback xmlns="">
      <p:transition spd="slow" advTm="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40000" fill="hold" grpId="0" nodeType="click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40000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56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7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8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0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4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4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56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7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8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0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5" grpId="0"/>
          <p:bldP spid="9" grpId="0"/>
          <p:bldP spid="10" grpId="0"/>
          <p:bldP spid="11" grpId="0"/>
          <p:bldP spid="12" grpId="0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47219-2144-B158-AAC5-EA7FFA7FA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8">
            <a:extLst>
              <a:ext uri="{FF2B5EF4-FFF2-40B4-BE49-F238E27FC236}">
                <a16:creationId xmlns:a16="http://schemas.microsoft.com/office/drawing/2014/main" id="{051CB699-D643-2960-FB50-DF89C8FF2238}"/>
              </a:ext>
            </a:extLst>
          </p:cNvPr>
          <p:cNvSpPr txBox="1"/>
          <p:nvPr/>
        </p:nvSpPr>
        <p:spPr>
          <a:xfrm>
            <a:off x="812751" y="87933"/>
            <a:ext cx="394915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概念结构设计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F31EEA5-D333-8228-A4B8-5F929C8596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133" y="6198107"/>
            <a:ext cx="1099536" cy="101786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9793B4D-475D-BEE3-FA19-E21C44F90BC9}"/>
              </a:ext>
            </a:extLst>
          </p:cNvPr>
          <p:cNvSpPr txBox="1"/>
          <p:nvPr/>
        </p:nvSpPr>
        <p:spPr>
          <a:xfrm>
            <a:off x="690984" y="518871"/>
            <a:ext cx="11476781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b="1" dirty="0">
                <a:effectLst/>
                <a:latin typeface="+mn-ea"/>
                <a:ea typeface="+mn-ea"/>
              </a:rPr>
              <a:t>根据</a:t>
            </a:r>
            <a:r>
              <a:rPr lang="en-US" altLang="zh-CN" sz="2000" b="1" dirty="0">
                <a:effectLst/>
                <a:latin typeface="+mn-ea"/>
                <a:ea typeface="+mn-ea"/>
              </a:rPr>
              <a:t>ER</a:t>
            </a:r>
            <a:r>
              <a:rPr lang="zh-CN" altLang="en-US" sz="2000" b="1" dirty="0">
                <a:effectLst/>
                <a:latin typeface="+mn-ea"/>
                <a:ea typeface="+mn-ea"/>
              </a:rPr>
              <a:t>图，我们可以得到数据库的逻辑结构</a:t>
            </a:r>
            <a:endParaRPr lang="en-US" altLang="zh-CN" sz="2000" b="1" dirty="0">
              <a:effectLst/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 </a:t>
            </a:r>
            <a:r>
              <a:rPr lang="en-US" altLang="zh-CN" sz="2000" b="1" dirty="0">
                <a:latin typeface="+mn-ea"/>
                <a:ea typeface="+mn-ea"/>
              </a:rPr>
              <a:t>(1) </a:t>
            </a:r>
            <a:r>
              <a:rPr lang="zh-CN" altLang="en-US" sz="2000" b="1" dirty="0">
                <a:latin typeface="+mn-ea"/>
                <a:ea typeface="+mn-ea"/>
              </a:rPr>
              <a:t>用户表 </a:t>
            </a:r>
            <a:r>
              <a:rPr lang="en-US" altLang="zh-CN" sz="2000" b="1" dirty="0">
                <a:latin typeface="+mn-ea"/>
                <a:ea typeface="+mn-ea"/>
              </a:rPr>
              <a:t>(User)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模式：</a:t>
            </a:r>
            <a:r>
              <a:rPr lang="en-US" altLang="zh-CN" sz="2000" b="1" dirty="0">
                <a:latin typeface="+mn-ea"/>
                <a:ea typeface="+mn-ea"/>
              </a:rPr>
              <a:t>`users(</a:t>
            </a:r>
            <a:r>
              <a:rPr lang="en-US" altLang="zh-CN" sz="2000" b="1" dirty="0" err="1">
                <a:latin typeface="+mn-ea"/>
                <a:ea typeface="+mn-ea"/>
              </a:rPr>
              <a:t>user_id</a:t>
            </a:r>
            <a:r>
              <a:rPr lang="en-US" altLang="zh-CN" sz="2000" b="1" dirty="0">
                <a:latin typeface="+mn-ea"/>
                <a:ea typeface="+mn-ea"/>
              </a:rPr>
              <a:t>, username, </a:t>
            </a:r>
            <a:r>
              <a:rPr lang="en-US" altLang="zh-CN" sz="2000" b="1" dirty="0" err="1">
                <a:latin typeface="+mn-ea"/>
                <a:ea typeface="+mn-ea"/>
              </a:rPr>
              <a:t>created_at</a:t>
            </a:r>
            <a:r>
              <a:rPr lang="en-US" altLang="zh-CN" sz="2000" b="1" dirty="0">
                <a:latin typeface="+mn-ea"/>
                <a:ea typeface="+mn-ea"/>
              </a:rPr>
              <a:t>)`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主键：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user_id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</a:p>
          <a:p>
            <a:endParaRPr lang="en-US" altLang="zh-CN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 (2) </a:t>
            </a:r>
            <a:r>
              <a:rPr lang="zh-CN" altLang="en-US" sz="2000" b="1" dirty="0">
                <a:latin typeface="+mn-ea"/>
                <a:ea typeface="+mn-ea"/>
              </a:rPr>
              <a:t>设备表 </a:t>
            </a:r>
            <a:r>
              <a:rPr lang="en-US" altLang="zh-CN" sz="2000" b="1" dirty="0">
                <a:latin typeface="+mn-ea"/>
                <a:ea typeface="+mn-ea"/>
              </a:rPr>
              <a:t>(Device)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模式：</a:t>
            </a:r>
            <a:r>
              <a:rPr lang="en-US" altLang="zh-CN" sz="2000" b="1" dirty="0">
                <a:latin typeface="+mn-ea"/>
                <a:ea typeface="+mn-ea"/>
              </a:rPr>
              <a:t>`devices(</a:t>
            </a:r>
            <a:r>
              <a:rPr lang="en-US" altLang="zh-CN" sz="2000" b="1" dirty="0" err="1">
                <a:latin typeface="+mn-ea"/>
                <a:ea typeface="+mn-ea"/>
              </a:rPr>
              <a:t>device_id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en-US" altLang="zh-CN" sz="2000" b="1" dirty="0" err="1">
                <a:latin typeface="+mn-ea"/>
                <a:ea typeface="+mn-ea"/>
              </a:rPr>
              <a:t>user_id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en-US" altLang="zh-CN" sz="2000" b="1" dirty="0" err="1">
                <a:latin typeface="+mn-ea"/>
                <a:ea typeface="+mn-ea"/>
              </a:rPr>
              <a:t>device_name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en-US" altLang="zh-CN" sz="2000" b="1" dirty="0" err="1">
                <a:latin typeface="+mn-ea"/>
                <a:ea typeface="+mn-ea"/>
              </a:rPr>
              <a:t>device_type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en-US" altLang="zh-CN" sz="2000" b="1" dirty="0" err="1">
                <a:latin typeface="+mn-ea"/>
                <a:ea typeface="+mn-ea"/>
              </a:rPr>
              <a:t>last_sync_time</a:t>
            </a:r>
            <a:r>
              <a:rPr lang="en-US" altLang="zh-CN" sz="2000" b="1" dirty="0">
                <a:latin typeface="+mn-ea"/>
                <a:ea typeface="+mn-ea"/>
              </a:rPr>
              <a:t>)`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主键：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device_id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外键：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user_id</a:t>
            </a:r>
            <a:r>
              <a:rPr lang="en-US" altLang="zh-CN" sz="2000" b="1" dirty="0">
                <a:latin typeface="+mn-ea"/>
                <a:ea typeface="+mn-ea"/>
              </a:rPr>
              <a:t>` → `</a:t>
            </a:r>
            <a:r>
              <a:rPr lang="en-US" altLang="zh-CN" sz="2000" b="1" dirty="0" err="1">
                <a:latin typeface="+mn-ea"/>
                <a:ea typeface="+mn-ea"/>
              </a:rPr>
              <a:t>users.user_id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</a:p>
          <a:p>
            <a:endParaRPr lang="en-US" altLang="zh-CN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 (3) </a:t>
            </a:r>
            <a:r>
              <a:rPr lang="zh-CN" altLang="en-US" sz="2000" b="1" dirty="0">
                <a:latin typeface="+mn-ea"/>
                <a:ea typeface="+mn-ea"/>
              </a:rPr>
              <a:t>文件夹表 </a:t>
            </a:r>
            <a:r>
              <a:rPr lang="en-US" altLang="zh-CN" sz="2000" b="1" dirty="0">
                <a:latin typeface="+mn-ea"/>
                <a:ea typeface="+mn-ea"/>
              </a:rPr>
              <a:t>(Folder)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模式：</a:t>
            </a:r>
            <a:r>
              <a:rPr lang="en-US" altLang="zh-CN" sz="2000" b="1" dirty="0">
                <a:latin typeface="+mn-ea"/>
                <a:ea typeface="+mn-ea"/>
              </a:rPr>
              <a:t>`folders(</a:t>
            </a:r>
            <a:r>
              <a:rPr lang="en-US" altLang="zh-CN" sz="2000" b="1" dirty="0" err="1">
                <a:latin typeface="+mn-ea"/>
                <a:ea typeface="+mn-ea"/>
              </a:rPr>
              <a:t>folder_id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en-US" altLang="zh-CN" sz="2000" b="1" dirty="0" err="1">
                <a:latin typeface="+mn-ea"/>
                <a:ea typeface="+mn-ea"/>
              </a:rPr>
              <a:t>user_id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en-US" altLang="zh-CN" sz="2000" b="1" dirty="0" err="1">
                <a:latin typeface="+mn-ea"/>
                <a:ea typeface="+mn-ea"/>
              </a:rPr>
              <a:t>parent_id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en-US" altLang="zh-CN" sz="2000" b="1" dirty="0" err="1">
                <a:latin typeface="+mn-ea"/>
                <a:ea typeface="+mn-ea"/>
              </a:rPr>
              <a:t>folder_name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en-US" altLang="zh-CN" sz="2000" b="1" dirty="0" err="1">
                <a:latin typeface="+mn-ea"/>
                <a:ea typeface="+mn-ea"/>
              </a:rPr>
              <a:t>created_at</a:t>
            </a:r>
            <a:r>
              <a:rPr lang="en-US" altLang="zh-CN" sz="2000" b="1" dirty="0">
                <a:latin typeface="+mn-ea"/>
                <a:ea typeface="+mn-ea"/>
              </a:rPr>
              <a:t>)`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主键：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folder_id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外键：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user_id</a:t>
            </a:r>
            <a:r>
              <a:rPr lang="en-US" altLang="zh-CN" sz="2000" b="1" dirty="0">
                <a:latin typeface="+mn-ea"/>
                <a:ea typeface="+mn-ea"/>
              </a:rPr>
              <a:t>` → `</a:t>
            </a:r>
            <a:r>
              <a:rPr lang="en-US" altLang="zh-CN" sz="2000" b="1" dirty="0" err="1">
                <a:latin typeface="+mn-ea"/>
                <a:ea typeface="+mn-ea"/>
              </a:rPr>
              <a:t>users.user_id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parent_id</a:t>
            </a:r>
            <a:r>
              <a:rPr lang="en-US" altLang="zh-CN" sz="2000" b="1" dirty="0">
                <a:latin typeface="+mn-ea"/>
                <a:ea typeface="+mn-ea"/>
              </a:rPr>
              <a:t>` → `</a:t>
            </a:r>
            <a:r>
              <a:rPr lang="en-US" altLang="zh-CN" sz="2000" b="1" dirty="0" err="1">
                <a:latin typeface="+mn-ea"/>
                <a:ea typeface="+mn-ea"/>
              </a:rPr>
              <a:t>folders.folder_id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en-US" sz="2000" b="1" dirty="0">
                <a:latin typeface="+mn-ea"/>
                <a:ea typeface="+mn-ea"/>
              </a:rPr>
              <a:t>自关联，可为空，空代表根目录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</a:p>
          <a:p>
            <a:endParaRPr lang="en-US" altLang="zh-CN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 (4) </a:t>
            </a:r>
            <a:r>
              <a:rPr lang="zh-CN" altLang="en-US" sz="2000" b="1" dirty="0">
                <a:latin typeface="+mn-ea"/>
                <a:ea typeface="+mn-ea"/>
              </a:rPr>
              <a:t>标签表 </a:t>
            </a:r>
            <a:r>
              <a:rPr lang="en-US" altLang="zh-CN" sz="2000" b="1" dirty="0">
                <a:latin typeface="+mn-ea"/>
                <a:ea typeface="+mn-ea"/>
              </a:rPr>
              <a:t>(Tag)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模式：</a:t>
            </a:r>
            <a:r>
              <a:rPr lang="en-US" altLang="zh-CN" sz="2000" b="1" dirty="0">
                <a:latin typeface="+mn-ea"/>
                <a:ea typeface="+mn-ea"/>
              </a:rPr>
              <a:t>`tags(</a:t>
            </a:r>
            <a:r>
              <a:rPr lang="en-US" altLang="zh-CN" sz="2000" b="1" dirty="0" err="1">
                <a:latin typeface="+mn-ea"/>
                <a:ea typeface="+mn-ea"/>
              </a:rPr>
              <a:t>tag_id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en-US" altLang="zh-CN" sz="2000" b="1" dirty="0" err="1">
                <a:latin typeface="+mn-ea"/>
                <a:ea typeface="+mn-ea"/>
              </a:rPr>
              <a:t>user_id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en-US" altLang="zh-CN" sz="2000" b="1" dirty="0" err="1">
                <a:latin typeface="+mn-ea"/>
                <a:ea typeface="+mn-ea"/>
              </a:rPr>
              <a:t>tag_name</a:t>
            </a:r>
            <a:r>
              <a:rPr lang="en-US" altLang="zh-CN" sz="2000" b="1" dirty="0">
                <a:latin typeface="+mn-ea"/>
                <a:ea typeface="+mn-ea"/>
              </a:rPr>
              <a:t>)`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主键：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tag_id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外键：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user_id</a:t>
            </a:r>
            <a:r>
              <a:rPr lang="en-US" altLang="zh-CN" sz="2000" b="1" dirty="0">
                <a:latin typeface="+mn-ea"/>
                <a:ea typeface="+mn-ea"/>
              </a:rPr>
              <a:t>` → `</a:t>
            </a:r>
            <a:r>
              <a:rPr lang="en-US" altLang="zh-CN" sz="2000" b="1" dirty="0" err="1">
                <a:latin typeface="+mn-ea"/>
                <a:ea typeface="+mn-ea"/>
              </a:rPr>
              <a:t>users.user_id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</a:p>
          <a:p>
            <a:pPr>
              <a:buNone/>
            </a:pPr>
            <a:endParaRPr lang="zh-CN" altLang="en-US" sz="2000" b="1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39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6199B-1035-84E4-7150-CB0432635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8">
            <a:extLst>
              <a:ext uri="{FF2B5EF4-FFF2-40B4-BE49-F238E27FC236}">
                <a16:creationId xmlns:a16="http://schemas.microsoft.com/office/drawing/2014/main" id="{3619DB81-0DF7-4DE3-A42E-500FE923F57E}"/>
              </a:ext>
            </a:extLst>
          </p:cNvPr>
          <p:cNvSpPr txBox="1"/>
          <p:nvPr/>
        </p:nvSpPr>
        <p:spPr>
          <a:xfrm>
            <a:off x="812751" y="87933"/>
            <a:ext cx="394915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概念结构设计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CE2F142-0C84-89CA-747A-3DB93D7AFE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133" y="6198107"/>
            <a:ext cx="1099536" cy="101786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DD433D6-989D-9655-41AD-6924B4F70D6C}"/>
              </a:ext>
            </a:extLst>
          </p:cNvPr>
          <p:cNvSpPr txBox="1"/>
          <p:nvPr/>
        </p:nvSpPr>
        <p:spPr>
          <a:xfrm>
            <a:off x="690984" y="518871"/>
            <a:ext cx="11476781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+mn-ea"/>
                <a:ea typeface="+mn-ea"/>
              </a:rPr>
              <a:t>2.2 </a:t>
            </a:r>
            <a:r>
              <a:rPr lang="zh-CN" altLang="zh-CN" sz="2000" b="1" dirty="0">
                <a:latin typeface="+mn-ea"/>
                <a:ea typeface="+mn-ea"/>
              </a:rPr>
              <a:t>核心业务表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(5) </a:t>
            </a:r>
            <a:r>
              <a:rPr lang="zh-CN" altLang="zh-CN" sz="2000" b="1" dirty="0">
                <a:latin typeface="+mn-ea"/>
                <a:ea typeface="+mn-ea"/>
              </a:rPr>
              <a:t>媒体项表 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en-US" altLang="zh-CN" sz="2000" b="1" dirty="0" err="1">
                <a:latin typeface="+mn-ea"/>
                <a:ea typeface="+mn-ea"/>
              </a:rPr>
              <a:t>MediaItem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endParaRPr lang="zh-CN" altLang="zh-CN" sz="2000" b="1" dirty="0">
              <a:latin typeface="+mn-ea"/>
              <a:ea typeface="+mn-ea"/>
            </a:endParaRPr>
          </a:p>
          <a:p>
            <a:r>
              <a:rPr lang="zh-CN" altLang="zh-CN" sz="2000" b="1" dirty="0">
                <a:latin typeface="+mn-ea"/>
                <a:ea typeface="+mn-ea"/>
              </a:rPr>
              <a:t>模式：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media_items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en-US" altLang="zh-CN" sz="2000" b="1" dirty="0" err="1">
                <a:latin typeface="+mn-ea"/>
                <a:ea typeface="+mn-ea"/>
              </a:rPr>
              <a:t>item_id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en-US" altLang="zh-CN" sz="2000" b="1" dirty="0" err="1">
                <a:latin typeface="+mn-ea"/>
                <a:ea typeface="+mn-ea"/>
              </a:rPr>
              <a:t>user_id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en-US" altLang="zh-CN" sz="2000" b="1" dirty="0" err="1">
                <a:latin typeface="+mn-ea"/>
                <a:ea typeface="+mn-ea"/>
              </a:rPr>
              <a:t>folder_id</a:t>
            </a:r>
            <a:r>
              <a:rPr lang="en-US" altLang="zh-CN" sz="2000" b="1" dirty="0">
                <a:latin typeface="+mn-ea"/>
                <a:ea typeface="+mn-ea"/>
              </a:rPr>
              <a:t>, title, </a:t>
            </a:r>
            <a:r>
              <a:rPr lang="en-US" altLang="zh-CN" sz="2000" b="1" dirty="0" err="1">
                <a:latin typeface="+mn-ea"/>
                <a:ea typeface="+mn-ea"/>
              </a:rPr>
              <a:t>media_type</a:t>
            </a:r>
            <a:r>
              <a:rPr lang="en-US" altLang="zh-CN" sz="2000" b="1" dirty="0">
                <a:latin typeface="+mn-ea"/>
                <a:ea typeface="+mn-ea"/>
              </a:rPr>
              <a:t>, description, </a:t>
            </a:r>
            <a:r>
              <a:rPr lang="en-US" altLang="zh-CN" sz="2000" b="1" dirty="0" err="1">
                <a:latin typeface="+mn-ea"/>
                <a:ea typeface="+mn-ea"/>
              </a:rPr>
              <a:t>created_at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en-US" altLang="zh-CN" sz="2000" b="1" dirty="0" err="1">
                <a:latin typeface="+mn-ea"/>
                <a:ea typeface="+mn-ea"/>
              </a:rPr>
              <a:t>updated_at</a:t>
            </a:r>
            <a:r>
              <a:rPr lang="en-US" altLang="zh-CN" sz="2000" b="1" dirty="0">
                <a:latin typeface="+mn-ea"/>
                <a:ea typeface="+mn-ea"/>
              </a:rPr>
              <a:t>)`</a:t>
            </a:r>
            <a:endParaRPr lang="zh-CN" altLang="zh-CN" sz="2000" b="1" dirty="0">
              <a:latin typeface="+mn-ea"/>
              <a:ea typeface="+mn-ea"/>
            </a:endParaRPr>
          </a:p>
          <a:p>
            <a:r>
              <a:rPr lang="zh-CN" altLang="zh-CN" sz="2000" b="1" dirty="0">
                <a:latin typeface="+mn-ea"/>
                <a:ea typeface="+mn-ea"/>
              </a:rPr>
              <a:t>主键：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item_id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endParaRPr lang="zh-CN" altLang="zh-CN" sz="2000" b="1" dirty="0">
              <a:latin typeface="+mn-ea"/>
              <a:ea typeface="+mn-ea"/>
            </a:endParaRPr>
          </a:p>
          <a:p>
            <a:r>
              <a:rPr lang="zh-CN" altLang="zh-CN" sz="2000" b="1" dirty="0">
                <a:latin typeface="+mn-ea"/>
                <a:ea typeface="+mn-ea"/>
              </a:rPr>
              <a:t>外键：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user_id</a:t>
            </a:r>
            <a:r>
              <a:rPr lang="en-US" altLang="zh-CN" sz="2000" b="1" dirty="0">
                <a:latin typeface="+mn-ea"/>
                <a:ea typeface="+mn-ea"/>
              </a:rPr>
              <a:t>` → `</a:t>
            </a:r>
            <a:r>
              <a:rPr lang="en-US" altLang="zh-CN" sz="2000" b="1" dirty="0" err="1">
                <a:latin typeface="+mn-ea"/>
                <a:ea typeface="+mn-ea"/>
              </a:rPr>
              <a:t>users.user_id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endParaRPr lang="zh-CN" altLang="zh-CN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       </a:t>
            </a:r>
            <a:r>
              <a:rPr lang="en-US" altLang="zh-CN" sz="2000" b="1" dirty="0" err="1">
                <a:latin typeface="+mn-ea"/>
                <a:ea typeface="+mn-ea"/>
              </a:rPr>
              <a:t>folder_id</a:t>
            </a:r>
            <a:r>
              <a:rPr lang="en-US" altLang="zh-CN" sz="2000" b="1" dirty="0">
                <a:latin typeface="+mn-ea"/>
                <a:ea typeface="+mn-ea"/>
              </a:rPr>
              <a:t>` → `</a:t>
            </a:r>
            <a:r>
              <a:rPr lang="en-US" altLang="zh-CN" sz="2000" b="1" dirty="0" err="1">
                <a:latin typeface="+mn-ea"/>
                <a:ea typeface="+mn-ea"/>
              </a:rPr>
              <a:t>folders.folder_id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endParaRPr lang="zh-CN" altLang="zh-CN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 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(6) </a:t>
            </a:r>
            <a:r>
              <a:rPr lang="zh-CN" altLang="zh-CN" sz="2000" b="1" dirty="0">
                <a:latin typeface="+mn-ea"/>
                <a:ea typeface="+mn-ea"/>
              </a:rPr>
              <a:t>存储位置表 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en-US" altLang="zh-CN" sz="2000" b="1" dirty="0" err="1">
                <a:latin typeface="+mn-ea"/>
                <a:ea typeface="+mn-ea"/>
              </a:rPr>
              <a:t>StorageLocation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endParaRPr lang="zh-CN" altLang="zh-CN" sz="2000" b="1" dirty="0">
              <a:latin typeface="+mn-ea"/>
              <a:ea typeface="+mn-ea"/>
            </a:endParaRPr>
          </a:p>
          <a:p>
            <a:r>
              <a:rPr lang="zh-CN" altLang="zh-CN" sz="2000" b="1" dirty="0">
                <a:latin typeface="+mn-ea"/>
                <a:ea typeface="+mn-ea"/>
              </a:rPr>
              <a:t>模式：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storage_locations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en-US" altLang="zh-CN" sz="2000" b="1" dirty="0" err="1">
                <a:latin typeface="+mn-ea"/>
                <a:ea typeface="+mn-ea"/>
              </a:rPr>
              <a:t>location_id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en-US" altLang="zh-CN" sz="2000" b="1" dirty="0" err="1">
                <a:latin typeface="+mn-ea"/>
                <a:ea typeface="+mn-ea"/>
              </a:rPr>
              <a:t>item_id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en-US" altLang="zh-CN" sz="2000" b="1" dirty="0" err="1">
                <a:latin typeface="+mn-ea"/>
                <a:ea typeface="+mn-ea"/>
              </a:rPr>
              <a:t>device_id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en-US" altLang="zh-CN" sz="2000" b="1" dirty="0" err="1">
                <a:latin typeface="+mn-ea"/>
                <a:ea typeface="+mn-ea"/>
              </a:rPr>
              <a:t>storage_type</a:t>
            </a:r>
            <a:r>
              <a:rPr lang="en-US" altLang="zh-CN" sz="2000" b="1" dirty="0">
                <a:latin typeface="+mn-ea"/>
                <a:ea typeface="+mn-ea"/>
              </a:rPr>
              <a:t>, path, </a:t>
            </a:r>
            <a:r>
              <a:rPr lang="en-US" altLang="zh-CN" sz="2000" b="1" dirty="0" err="1">
                <a:latin typeface="+mn-ea"/>
                <a:ea typeface="+mn-ea"/>
              </a:rPr>
              <a:t>access_info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en-US" altLang="zh-CN" sz="2000" b="1" dirty="0" err="1">
                <a:latin typeface="+mn-ea"/>
                <a:ea typeface="+mn-ea"/>
              </a:rPr>
              <a:t>is_available</a:t>
            </a:r>
            <a:r>
              <a:rPr lang="en-US" altLang="zh-CN" sz="2000" b="1" dirty="0">
                <a:latin typeface="+mn-ea"/>
                <a:ea typeface="+mn-ea"/>
              </a:rPr>
              <a:t>)`</a:t>
            </a:r>
            <a:endParaRPr lang="zh-CN" altLang="zh-CN" sz="2000" b="1" dirty="0">
              <a:latin typeface="+mn-ea"/>
              <a:ea typeface="+mn-ea"/>
            </a:endParaRPr>
          </a:p>
          <a:p>
            <a:r>
              <a:rPr lang="zh-CN" altLang="zh-CN" sz="2000" b="1" dirty="0">
                <a:latin typeface="+mn-ea"/>
                <a:ea typeface="+mn-ea"/>
              </a:rPr>
              <a:t>主键：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location_id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endParaRPr lang="zh-CN" altLang="zh-CN" sz="2000" b="1" dirty="0">
              <a:latin typeface="+mn-ea"/>
              <a:ea typeface="+mn-ea"/>
            </a:endParaRPr>
          </a:p>
          <a:p>
            <a:r>
              <a:rPr lang="zh-CN" altLang="zh-CN" sz="2000" b="1" dirty="0">
                <a:latin typeface="+mn-ea"/>
                <a:ea typeface="+mn-ea"/>
              </a:rPr>
              <a:t>外键：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item_id</a:t>
            </a:r>
            <a:r>
              <a:rPr lang="en-US" altLang="zh-CN" sz="2000" b="1" dirty="0">
                <a:latin typeface="+mn-ea"/>
                <a:ea typeface="+mn-ea"/>
              </a:rPr>
              <a:t>` → `</a:t>
            </a:r>
            <a:r>
              <a:rPr lang="en-US" altLang="zh-CN" sz="2000" b="1" dirty="0" err="1">
                <a:latin typeface="+mn-ea"/>
                <a:ea typeface="+mn-ea"/>
              </a:rPr>
              <a:t>media_items.item_id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zh-CN" sz="2000" b="1" dirty="0">
                <a:latin typeface="+mn-ea"/>
                <a:ea typeface="+mn-ea"/>
              </a:rPr>
              <a:t>级联删除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endParaRPr lang="zh-CN" altLang="zh-CN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device_id</a:t>
            </a:r>
            <a:r>
              <a:rPr lang="en-US" altLang="zh-CN" sz="2000" b="1" dirty="0">
                <a:latin typeface="+mn-ea"/>
                <a:ea typeface="+mn-ea"/>
              </a:rPr>
              <a:t>` → `</a:t>
            </a:r>
            <a:r>
              <a:rPr lang="en-US" altLang="zh-CN" sz="2000" b="1" dirty="0" err="1">
                <a:latin typeface="+mn-ea"/>
                <a:ea typeface="+mn-ea"/>
              </a:rPr>
              <a:t>devices.device_id</a:t>
            </a:r>
            <a:r>
              <a:rPr lang="en-US" altLang="zh-CN" sz="2000" b="1" dirty="0">
                <a:latin typeface="+mn-ea"/>
                <a:ea typeface="+mn-ea"/>
              </a:rPr>
              <a:t>` (</a:t>
            </a:r>
            <a:r>
              <a:rPr lang="zh-CN" altLang="zh-CN" sz="2000" b="1" dirty="0">
                <a:latin typeface="+mn-ea"/>
                <a:ea typeface="+mn-ea"/>
              </a:rPr>
              <a:t>可为空，当 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storage_type</a:t>
            </a:r>
            <a:r>
              <a:rPr lang="en-US" altLang="zh-CN" sz="2000" b="1" dirty="0">
                <a:latin typeface="+mn-ea"/>
                <a:ea typeface="+mn-ea"/>
              </a:rPr>
              <a:t>`='Web' </a:t>
            </a:r>
            <a:r>
              <a:rPr lang="zh-CN" altLang="zh-CN" sz="2000" b="1" dirty="0">
                <a:latin typeface="+mn-ea"/>
                <a:ea typeface="+mn-ea"/>
              </a:rPr>
              <a:t>时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endParaRPr lang="zh-CN" altLang="zh-CN" sz="2000" b="1" dirty="0">
              <a:latin typeface="+mn-ea"/>
              <a:ea typeface="+mn-ea"/>
            </a:endParaRPr>
          </a:p>
          <a:p>
            <a:br>
              <a:rPr lang="en-US" altLang="zh-CN" sz="2000" b="1" dirty="0">
                <a:latin typeface="+mn-ea"/>
                <a:ea typeface="+mn-ea"/>
              </a:rPr>
            </a:br>
            <a:r>
              <a:rPr lang="en-US" altLang="zh-CN" sz="2000" b="1" dirty="0">
                <a:latin typeface="+mn-ea"/>
                <a:ea typeface="+mn-ea"/>
              </a:rPr>
              <a:t>2.3 </a:t>
            </a:r>
            <a:r>
              <a:rPr lang="zh-CN" altLang="zh-CN" sz="2000" b="1" dirty="0">
                <a:latin typeface="+mn-ea"/>
                <a:ea typeface="+mn-ea"/>
              </a:rPr>
              <a:t>关联表 </a:t>
            </a:r>
            <a:r>
              <a:rPr lang="en-US" altLang="zh-CN" sz="2000" b="1" dirty="0">
                <a:latin typeface="+mn-ea"/>
                <a:ea typeface="+mn-ea"/>
              </a:rPr>
              <a:t>(Association Tables)</a:t>
            </a:r>
            <a:endParaRPr lang="zh-CN" altLang="zh-CN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(7) </a:t>
            </a:r>
            <a:r>
              <a:rPr lang="zh-CN" altLang="zh-CN" sz="2000" b="1" dirty="0">
                <a:latin typeface="+mn-ea"/>
                <a:ea typeface="+mn-ea"/>
              </a:rPr>
              <a:t>媒体</a:t>
            </a:r>
            <a:r>
              <a:rPr lang="en-US" altLang="zh-CN" sz="2000" b="1" dirty="0">
                <a:latin typeface="+mn-ea"/>
                <a:ea typeface="+mn-ea"/>
              </a:rPr>
              <a:t>-</a:t>
            </a:r>
            <a:r>
              <a:rPr lang="zh-CN" altLang="zh-CN" sz="2000" b="1" dirty="0">
                <a:latin typeface="+mn-ea"/>
                <a:ea typeface="+mn-ea"/>
              </a:rPr>
              <a:t>标签关联表 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en-US" altLang="zh-CN" sz="2000" b="1" dirty="0" err="1">
                <a:latin typeface="+mn-ea"/>
                <a:ea typeface="+mn-ea"/>
              </a:rPr>
              <a:t>MediaTag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endParaRPr lang="zh-CN" altLang="zh-CN" sz="2000" b="1" dirty="0">
              <a:latin typeface="+mn-ea"/>
              <a:ea typeface="+mn-ea"/>
            </a:endParaRPr>
          </a:p>
          <a:p>
            <a:r>
              <a:rPr lang="zh-CN" altLang="zh-CN" sz="2000" b="1" dirty="0">
                <a:latin typeface="+mn-ea"/>
                <a:ea typeface="+mn-ea"/>
              </a:rPr>
              <a:t>模式：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media_tags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en-US" altLang="zh-CN" sz="2000" b="1" dirty="0" err="1">
                <a:latin typeface="+mn-ea"/>
                <a:ea typeface="+mn-ea"/>
              </a:rPr>
              <a:t>item_id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en-US" altLang="zh-CN" sz="2000" b="1" dirty="0" err="1">
                <a:latin typeface="+mn-ea"/>
                <a:ea typeface="+mn-ea"/>
              </a:rPr>
              <a:t>tag_id</a:t>
            </a:r>
            <a:r>
              <a:rPr lang="en-US" altLang="zh-CN" sz="2000" b="1" dirty="0">
                <a:latin typeface="+mn-ea"/>
                <a:ea typeface="+mn-ea"/>
              </a:rPr>
              <a:t>)`</a:t>
            </a:r>
            <a:endParaRPr lang="zh-CN" altLang="zh-CN" sz="2000" b="1" dirty="0">
              <a:latin typeface="+mn-ea"/>
              <a:ea typeface="+mn-ea"/>
            </a:endParaRPr>
          </a:p>
          <a:p>
            <a:r>
              <a:rPr lang="zh-CN" altLang="zh-CN" sz="2000" b="1" dirty="0">
                <a:latin typeface="+mn-ea"/>
                <a:ea typeface="+mn-ea"/>
              </a:rPr>
              <a:t>主键：</a:t>
            </a:r>
            <a:r>
              <a:rPr lang="en-US" altLang="zh-CN" sz="2000" b="1" dirty="0">
                <a:latin typeface="+mn-ea"/>
                <a:ea typeface="+mn-ea"/>
              </a:rPr>
              <a:t>`(</a:t>
            </a:r>
            <a:r>
              <a:rPr lang="en-US" altLang="zh-CN" sz="2000" b="1" dirty="0" err="1">
                <a:latin typeface="+mn-ea"/>
                <a:ea typeface="+mn-ea"/>
              </a:rPr>
              <a:t>item_id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en-US" altLang="zh-CN" sz="2000" b="1" dirty="0" err="1">
                <a:latin typeface="+mn-ea"/>
                <a:ea typeface="+mn-ea"/>
              </a:rPr>
              <a:t>tag_id</a:t>
            </a:r>
            <a:r>
              <a:rPr lang="en-US" altLang="zh-CN" sz="2000" b="1" dirty="0">
                <a:latin typeface="+mn-ea"/>
                <a:ea typeface="+mn-ea"/>
              </a:rPr>
              <a:t>)` (</a:t>
            </a:r>
            <a:r>
              <a:rPr lang="zh-CN" altLang="zh-CN" sz="2000" b="1" dirty="0">
                <a:latin typeface="+mn-ea"/>
                <a:ea typeface="+mn-ea"/>
              </a:rPr>
              <a:t>复合主键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endParaRPr lang="zh-CN" altLang="zh-CN" sz="2000" b="1" dirty="0">
              <a:latin typeface="+mn-ea"/>
              <a:ea typeface="+mn-ea"/>
            </a:endParaRPr>
          </a:p>
          <a:p>
            <a:r>
              <a:rPr lang="zh-CN" altLang="zh-CN" sz="2000" b="1" dirty="0">
                <a:latin typeface="+mn-ea"/>
                <a:ea typeface="+mn-ea"/>
              </a:rPr>
              <a:t>外键：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item_id</a:t>
            </a:r>
            <a:r>
              <a:rPr lang="en-US" altLang="zh-CN" sz="2000" b="1" dirty="0">
                <a:latin typeface="+mn-ea"/>
                <a:ea typeface="+mn-ea"/>
              </a:rPr>
              <a:t>` → `</a:t>
            </a:r>
            <a:r>
              <a:rPr lang="en-US" altLang="zh-CN" sz="2000" b="1" dirty="0" err="1">
                <a:latin typeface="+mn-ea"/>
                <a:ea typeface="+mn-ea"/>
              </a:rPr>
              <a:t>media_items.item_id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endParaRPr lang="zh-CN" altLang="zh-CN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      `</a:t>
            </a:r>
            <a:r>
              <a:rPr lang="en-US" altLang="zh-CN" sz="2000" b="1" dirty="0" err="1">
                <a:latin typeface="+mn-ea"/>
                <a:ea typeface="+mn-ea"/>
              </a:rPr>
              <a:t>tag_id</a:t>
            </a:r>
            <a:r>
              <a:rPr lang="en-US" altLang="zh-CN" sz="2000" b="1" dirty="0">
                <a:latin typeface="+mn-ea"/>
                <a:ea typeface="+mn-ea"/>
              </a:rPr>
              <a:t>` → `</a:t>
            </a:r>
            <a:r>
              <a:rPr lang="en-US" altLang="zh-CN" sz="2000" b="1" dirty="0" err="1">
                <a:latin typeface="+mn-ea"/>
                <a:ea typeface="+mn-ea"/>
              </a:rPr>
              <a:t>tags.tag_id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endParaRPr lang="zh-CN" altLang="zh-CN" sz="20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6676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0A10F-2CD0-31DF-84F3-13BF5EE40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8">
            <a:extLst>
              <a:ext uri="{FF2B5EF4-FFF2-40B4-BE49-F238E27FC236}">
                <a16:creationId xmlns:a16="http://schemas.microsoft.com/office/drawing/2014/main" id="{AC9AC626-2AEA-81D6-1C5A-287E07C25A73}"/>
              </a:ext>
            </a:extLst>
          </p:cNvPr>
          <p:cNvSpPr txBox="1"/>
          <p:nvPr/>
        </p:nvSpPr>
        <p:spPr>
          <a:xfrm>
            <a:off x="812751" y="87933"/>
            <a:ext cx="394915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规范化分析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CA55683-D20E-D35C-8FC8-260B41B05A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133" y="6198107"/>
            <a:ext cx="1099536" cy="101786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FD958B9-CFCE-FC09-BBCD-531D6C558745}"/>
              </a:ext>
            </a:extLst>
          </p:cNvPr>
          <p:cNvSpPr txBox="1"/>
          <p:nvPr/>
        </p:nvSpPr>
        <p:spPr>
          <a:xfrm>
            <a:off x="690984" y="518871"/>
            <a:ext cx="11476781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  <a:ea typeface="+mn-ea"/>
              </a:rPr>
              <a:t>第一范式 </a:t>
            </a:r>
            <a:r>
              <a:rPr lang="en-US" altLang="zh-CN" sz="2000" b="1" dirty="0">
                <a:latin typeface="+mn-ea"/>
                <a:ea typeface="+mn-ea"/>
              </a:rPr>
              <a:t>(1NF)</a:t>
            </a:r>
            <a:endParaRPr lang="zh-CN" altLang="en-US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分析：所有表的字段均为原子值，不可再分。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符合情况：符合。例如 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StorageLocation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 中的 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access_info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 虽然可能包含账号密码等信息，但在本系统中被视为一个整体备注字符串处理，不涉及数据库层面的拆解查询。</a:t>
            </a:r>
          </a:p>
          <a:p>
            <a:endParaRPr lang="zh-CN" altLang="en-US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3.2 </a:t>
            </a:r>
            <a:r>
              <a:rPr lang="zh-CN" altLang="en-US" sz="2000" b="1" dirty="0">
                <a:latin typeface="+mn-ea"/>
                <a:ea typeface="+mn-ea"/>
              </a:rPr>
              <a:t>第二范式 </a:t>
            </a:r>
            <a:r>
              <a:rPr lang="en-US" altLang="zh-CN" sz="2000" b="1" dirty="0">
                <a:latin typeface="+mn-ea"/>
                <a:ea typeface="+mn-ea"/>
              </a:rPr>
              <a:t>(2NF)</a:t>
            </a:r>
            <a:endParaRPr lang="zh-CN" altLang="en-US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分析：所有非主属性完全依赖于主键。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符合情况：符合。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在 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media_tags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 表中，不存在仅依赖于 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item_id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 或 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tag_id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 的非主属性（该表只有两个主键字段，无其他属性）。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其他表均为单字段主键，自然符合 </a:t>
            </a:r>
            <a:r>
              <a:rPr lang="en-US" altLang="zh-CN" sz="2000" b="1" dirty="0">
                <a:latin typeface="+mn-ea"/>
                <a:ea typeface="+mn-ea"/>
              </a:rPr>
              <a:t>2NF</a:t>
            </a:r>
            <a:r>
              <a:rPr lang="zh-CN" altLang="en-US" sz="2000" b="1" dirty="0">
                <a:latin typeface="+mn-ea"/>
                <a:ea typeface="+mn-ea"/>
              </a:rPr>
              <a:t>。</a:t>
            </a:r>
          </a:p>
          <a:p>
            <a:endParaRPr lang="zh-CN" altLang="en-US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3.3 </a:t>
            </a:r>
            <a:r>
              <a:rPr lang="zh-CN" altLang="en-US" sz="2000" b="1" dirty="0">
                <a:latin typeface="+mn-ea"/>
                <a:ea typeface="+mn-ea"/>
              </a:rPr>
              <a:t>第三范式 </a:t>
            </a:r>
            <a:r>
              <a:rPr lang="en-US" altLang="zh-CN" sz="2000" b="1" dirty="0">
                <a:latin typeface="+mn-ea"/>
                <a:ea typeface="+mn-ea"/>
              </a:rPr>
              <a:t>(3NF)</a:t>
            </a:r>
            <a:endParaRPr lang="zh-CN" altLang="en-US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分析：不存在非主属性对主键的传递依赖。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符合情况：符合。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例如在 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media_items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 表中，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folder_id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 决定了文件夹信息，但文件夹的具体名称存储在 </a:t>
            </a:r>
            <a:r>
              <a:rPr lang="en-US" altLang="zh-CN" sz="2000" b="1" dirty="0">
                <a:latin typeface="+mn-ea"/>
                <a:ea typeface="+mn-ea"/>
              </a:rPr>
              <a:t>`folders`</a:t>
            </a:r>
            <a:r>
              <a:rPr lang="zh-CN" altLang="en-US" sz="2000" b="1" dirty="0">
                <a:latin typeface="+mn-ea"/>
                <a:ea typeface="+mn-ea"/>
              </a:rPr>
              <a:t> 表中，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media_items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 只存 </a:t>
            </a:r>
            <a:r>
              <a:rPr lang="en-US" altLang="zh-CN" sz="2000" b="1" dirty="0">
                <a:latin typeface="+mn-ea"/>
                <a:ea typeface="+mn-ea"/>
              </a:rPr>
              <a:t>ID</a:t>
            </a:r>
            <a:r>
              <a:rPr lang="zh-CN" altLang="en-US" sz="2000" b="1" dirty="0">
                <a:latin typeface="+mn-ea"/>
                <a:ea typeface="+mn-ea"/>
              </a:rPr>
              <a:t>，消除了传递依赖。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storage_locations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 表中，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device_id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 决定设备信息，同样通过外键引用，未在存储位置表中冗余设备名称。</a:t>
            </a:r>
            <a:endParaRPr lang="en-US" altLang="zh-CN" sz="2000" b="1" dirty="0">
              <a:latin typeface="+mn-ea"/>
              <a:ea typeface="+mn-ea"/>
            </a:endParaRPr>
          </a:p>
          <a:p>
            <a:endParaRPr lang="zh-CN" altLang="en-US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综上，该数据库属于第三范式</a:t>
            </a:r>
            <a:endParaRPr lang="zh-CN" altLang="zh-CN" sz="20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30115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13AC8-F53F-24C0-15D1-C14F6DA9C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8">
            <a:extLst>
              <a:ext uri="{FF2B5EF4-FFF2-40B4-BE49-F238E27FC236}">
                <a16:creationId xmlns:a16="http://schemas.microsoft.com/office/drawing/2014/main" id="{F0F323CA-4941-EA31-6AB3-B5831C1DF29E}"/>
              </a:ext>
            </a:extLst>
          </p:cNvPr>
          <p:cNvSpPr txBox="1"/>
          <p:nvPr/>
        </p:nvSpPr>
        <p:spPr>
          <a:xfrm>
            <a:off x="812751" y="87933"/>
            <a:ext cx="394915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数据完整性设计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2CC64A2-CB63-AF35-BD8D-81AD07D2BD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133" y="6198107"/>
            <a:ext cx="1099536" cy="101786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3936EAE-3E9A-7249-F819-E7D9A19A4428}"/>
              </a:ext>
            </a:extLst>
          </p:cNvPr>
          <p:cNvSpPr txBox="1"/>
          <p:nvPr/>
        </p:nvSpPr>
        <p:spPr>
          <a:xfrm>
            <a:off x="690984" y="518871"/>
            <a:ext cx="11476781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+mn-ea"/>
                <a:ea typeface="+mn-ea"/>
              </a:rPr>
              <a:t>1.</a:t>
            </a:r>
            <a:r>
              <a:rPr lang="zh-CN" altLang="en-US" sz="2000" b="1" dirty="0">
                <a:latin typeface="+mn-ea"/>
                <a:ea typeface="+mn-ea"/>
              </a:rPr>
              <a:t>实体完整性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所有表的主键 </a:t>
            </a:r>
            <a:r>
              <a:rPr lang="en-US" altLang="zh-CN" sz="2000" b="1" dirty="0">
                <a:latin typeface="+mn-ea"/>
                <a:ea typeface="+mn-ea"/>
              </a:rPr>
              <a:t>(`PK`) </a:t>
            </a:r>
            <a:r>
              <a:rPr lang="zh-CN" altLang="en-US" sz="2000" b="1" dirty="0">
                <a:latin typeface="+mn-ea"/>
                <a:ea typeface="+mn-ea"/>
              </a:rPr>
              <a:t>均不能为空且唯一。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使用 </a:t>
            </a:r>
            <a:r>
              <a:rPr lang="en-US" altLang="zh-CN" sz="2000" b="1" dirty="0">
                <a:latin typeface="+mn-ea"/>
                <a:ea typeface="+mn-ea"/>
              </a:rPr>
              <a:t>UUID </a:t>
            </a:r>
            <a:r>
              <a:rPr lang="zh-CN" altLang="en-US" sz="2000" b="1" dirty="0">
                <a:latin typeface="+mn-ea"/>
                <a:ea typeface="+mn-ea"/>
              </a:rPr>
              <a:t>生成算法保证分布式环境下的唯一性。</a:t>
            </a:r>
          </a:p>
          <a:p>
            <a:endParaRPr lang="zh-CN" altLang="en-US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2.</a:t>
            </a:r>
            <a:r>
              <a:rPr lang="zh-CN" altLang="en-US" sz="2000" b="1" dirty="0">
                <a:latin typeface="+mn-ea"/>
                <a:ea typeface="+mn-ea"/>
              </a:rPr>
              <a:t>参照完整性 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zh-CN" altLang="en-US" sz="2000" b="1" dirty="0">
                <a:latin typeface="+mn-ea"/>
                <a:ea typeface="+mn-ea"/>
              </a:rPr>
              <a:t>外键策略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endParaRPr lang="zh-CN" altLang="en-US" sz="2000" b="1" dirty="0">
              <a:latin typeface="+mn-ea"/>
              <a:ea typeface="+mn-ea"/>
            </a:endParaRPr>
          </a:p>
          <a:p>
            <a:r>
              <a:rPr lang="en-US" altLang="zh-CN" sz="2000" b="1" dirty="0" err="1">
                <a:latin typeface="+mn-ea"/>
                <a:ea typeface="+mn-ea"/>
              </a:rPr>
              <a:t>MediaItem</a:t>
            </a:r>
            <a:r>
              <a:rPr lang="en-US" altLang="zh-CN" sz="2000" b="1" dirty="0">
                <a:latin typeface="+mn-ea"/>
                <a:ea typeface="+mn-ea"/>
              </a:rPr>
              <a:t> </a:t>
            </a:r>
            <a:r>
              <a:rPr lang="zh-CN" altLang="en-US" sz="2000" b="1" dirty="0">
                <a:latin typeface="+mn-ea"/>
                <a:ea typeface="+mn-ea"/>
              </a:rPr>
              <a:t>删除时：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StorageLocation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：</a:t>
            </a:r>
            <a:r>
              <a:rPr lang="en-US" altLang="zh-CN" sz="2000" b="1" dirty="0">
                <a:latin typeface="+mn-ea"/>
                <a:ea typeface="+mn-ea"/>
              </a:rPr>
              <a:t>CASCADE (</a:t>
            </a:r>
            <a:r>
              <a:rPr lang="zh-CN" altLang="en-US" sz="2000" b="1" dirty="0">
                <a:latin typeface="+mn-ea"/>
                <a:ea typeface="+mn-ea"/>
              </a:rPr>
              <a:t>级联删除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r>
              <a:rPr lang="zh-CN" altLang="en-US" sz="2000" b="1" dirty="0">
                <a:latin typeface="+mn-ea"/>
                <a:ea typeface="+mn-ea"/>
              </a:rPr>
              <a:t>。逻辑实体没了，物理位置记录也就没有意义了。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MediaTag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：</a:t>
            </a:r>
            <a:r>
              <a:rPr lang="en-US" altLang="zh-CN" sz="2000" b="1" dirty="0">
                <a:latin typeface="+mn-ea"/>
                <a:ea typeface="+mn-ea"/>
              </a:rPr>
              <a:t>CASCADE (</a:t>
            </a:r>
            <a:r>
              <a:rPr lang="zh-CN" altLang="en-US" sz="2000" b="1" dirty="0">
                <a:latin typeface="+mn-ea"/>
                <a:ea typeface="+mn-ea"/>
              </a:rPr>
              <a:t>级联删除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r>
              <a:rPr lang="zh-CN" altLang="en-US" sz="2000" b="1" dirty="0">
                <a:latin typeface="+mn-ea"/>
                <a:ea typeface="+mn-ea"/>
              </a:rPr>
              <a:t>。关联关系随之消失。</a:t>
            </a:r>
          </a:p>
          <a:p>
            <a:endParaRPr lang="en-US" altLang="zh-CN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Folder </a:t>
            </a:r>
            <a:r>
              <a:rPr lang="zh-CN" altLang="en-US" sz="2000" b="1" dirty="0">
                <a:latin typeface="+mn-ea"/>
                <a:ea typeface="+mn-ea"/>
              </a:rPr>
              <a:t>删除时：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MediaItem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：</a:t>
            </a:r>
            <a:r>
              <a:rPr lang="en-US" altLang="zh-CN" sz="2000" b="1" dirty="0">
                <a:latin typeface="+mn-ea"/>
                <a:ea typeface="+mn-ea"/>
              </a:rPr>
              <a:t>RESTRICT (</a:t>
            </a:r>
            <a:r>
              <a:rPr lang="zh-CN" altLang="en-US" sz="2000" b="1" dirty="0">
                <a:latin typeface="+mn-ea"/>
                <a:ea typeface="+mn-ea"/>
              </a:rPr>
              <a:t>限制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r>
              <a:rPr lang="zh-CN" altLang="en-US" sz="2000" b="1" dirty="0">
                <a:latin typeface="+mn-ea"/>
                <a:ea typeface="+mn-ea"/>
              </a:rPr>
              <a:t> 或 </a:t>
            </a:r>
            <a:r>
              <a:rPr lang="en-US" altLang="zh-CN" sz="2000" b="1" dirty="0">
                <a:latin typeface="+mn-ea"/>
                <a:ea typeface="+mn-ea"/>
              </a:rPr>
              <a:t>SET NULL</a:t>
            </a:r>
            <a:r>
              <a:rPr lang="zh-CN" altLang="en-US" sz="2000" b="1" dirty="0">
                <a:latin typeface="+mn-ea"/>
                <a:ea typeface="+mn-ea"/>
              </a:rPr>
              <a:t>。防止误删文件夹导致大量文件记录丢失，通常要求先清空文件夹或移动文件。设为 </a:t>
            </a:r>
            <a:r>
              <a:rPr lang="en-US" altLang="zh-CN" sz="2000" b="1" dirty="0">
                <a:latin typeface="+mn-ea"/>
                <a:ea typeface="+mn-ea"/>
              </a:rPr>
              <a:t>`RESTRICT`</a:t>
            </a:r>
            <a:r>
              <a:rPr lang="zh-CN" altLang="en-US" sz="2000" b="1" dirty="0">
                <a:latin typeface="+mn-ea"/>
                <a:ea typeface="+mn-ea"/>
              </a:rPr>
              <a:t>。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Device </a:t>
            </a:r>
            <a:r>
              <a:rPr lang="zh-CN" altLang="en-US" sz="2000" b="1" dirty="0">
                <a:latin typeface="+mn-ea"/>
                <a:ea typeface="+mn-ea"/>
              </a:rPr>
              <a:t>删除时：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StorageLocation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：</a:t>
            </a:r>
            <a:r>
              <a:rPr lang="en-US" altLang="zh-CN" sz="2000" b="1" dirty="0">
                <a:latin typeface="+mn-ea"/>
                <a:ea typeface="+mn-ea"/>
              </a:rPr>
              <a:t>**CASCADE**</a:t>
            </a:r>
            <a:r>
              <a:rPr lang="zh-CN" altLang="en-US" sz="2000" b="1" dirty="0">
                <a:latin typeface="+mn-ea"/>
                <a:ea typeface="+mn-ea"/>
              </a:rPr>
              <a:t>。设备移除了，该设备上的文件记录自然失效。</a:t>
            </a:r>
          </a:p>
          <a:p>
            <a:br>
              <a:rPr lang="zh-CN" altLang="en-US" sz="2000" b="1" dirty="0">
                <a:latin typeface="+mn-ea"/>
                <a:ea typeface="+mn-ea"/>
              </a:rPr>
            </a:br>
            <a:endParaRPr lang="zh-CN" altLang="en-US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用户定义完整性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users.username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：</a:t>
            </a:r>
            <a:r>
              <a:rPr lang="en-US" altLang="zh-CN" sz="2000" b="1" dirty="0">
                <a:latin typeface="+mn-ea"/>
                <a:ea typeface="+mn-ea"/>
              </a:rPr>
              <a:t>UNIQUE</a:t>
            </a:r>
            <a:r>
              <a:rPr lang="zh-CN" altLang="en-US" sz="2000" b="1" dirty="0">
                <a:latin typeface="+mn-ea"/>
                <a:ea typeface="+mn-ea"/>
              </a:rPr>
              <a:t>，用户名不可重复。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storage_locations.storage_type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：</a:t>
            </a:r>
            <a:r>
              <a:rPr lang="en-US" altLang="zh-CN" sz="2000" b="1" dirty="0">
                <a:latin typeface="+mn-ea"/>
                <a:ea typeface="+mn-ea"/>
              </a:rPr>
              <a:t>CHECK</a:t>
            </a:r>
            <a:r>
              <a:rPr lang="zh-CN" altLang="en-US" sz="2000" b="1" dirty="0">
                <a:latin typeface="+mn-ea"/>
                <a:ea typeface="+mn-ea"/>
              </a:rPr>
              <a:t>，只能是 </a:t>
            </a:r>
            <a:r>
              <a:rPr lang="en-US" altLang="zh-CN" sz="2000" b="1" dirty="0">
                <a:latin typeface="+mn-ea"/>
                <a:ea typeface="+mn-ea"/>
              </a:rPr>
              <a:t>'Local' </a:t>
            </a:r>
            <a:r>
              <a:rPr lang="zh-CN" altLang="en-US" sz="2000" b="1" dirty="0">
                <a:latin typeface="+mn-ea"/>
                <a:ea typeface="+mn-ea"/>
              </a:rPr>
              <a:t>或 </a:t>
            </a:r>
            <a:r>
              <a:rPr lang="en-US" altLang="zh-CN" sz="2000" b="1" dirty="0">
                <a:latin typeface="+mn-ea"/>
                <a:ea typeface="+mn-ea"/>
              </a:rPr>
              <a:t>'Web'</a:t>
            </a:r>
            <a:r>
              <a:rPr lang="zh-CN" altLang="en-US" sz="2000" b="1" dirty="0">
                <a:latin typeface="+mn-ea"/>
                <a:ea typeface="+mn-ea"/>
              </a:rPr>
              <a:t>。</a:t>
            </a:r>
          </a:p>
          <a:p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en-US" altLang="zh-CN" sz="2000" b="1" dirty="0" err="1">
                <a:latin typeface="+mn-ea"/>
                <a:ea typeface="+mn-ea"/>
              </a:rPr>
              <a:t>media_items.title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：</a:t>
            </a:r>
            <a:r>
              <a:rPr lang="en-US" altLang="zh-CN" sz="2000" b="1" dirty="0">
                <a:latin typeface="+mn-ea"/>
                <a:ea typeface="+mn-ea"/>
              </a:rPr>
              <a:t>NOT NULL</a:t>
            </a:r>
            <a:r>
              <a:rPr lang="zh-CN" altLang="en-US" sz="2000" b="1" dirty="0">
                <a:latin typeface="+mn-ea"/>
                <a:ea typeface="+mn-ea"/>
              </a:rPr>
              <a:t>，标题不能为空。</a:t>
            </a:r>
          </a:p>
        </p:txBody>
      </p:sp>
    </p:spTree>
    <p:extLst>
      <p:ext uri="{BB962C8B-B14F-4D97-AF65-F5344CB8AC3E}">
        <p14:creationId xmlns:p14="http://schemas.microsoft.com/office/powerpoint/2010/main" val="1973793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7D55E-0192-9CBE-B9F4-F57E8FD38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72A502BA-59B2-CA96-3312-5B0C60649A00}"/>
              </a:ext>
            </a:extLst>
          </p:cNvPr>
          <p:cNvSpPr/>
          <p:nvPr/>
        </p:nvSpPr>
        <p:spPr>
          <a:xfrm>
            <a:off x="4238836" y="3493251"/>
            <a:ext cx="4381081" cy="96997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720" tIns="36359" rIns="72720" bIns="36359" rtlCol="0" anchor="ctr"/>
          <a:lstStyle/>
          <a:p>
            <a:pPr algn="ctr"/>
            <a:endParaRPr lang="zh-CN" altLang="en-US" sz="1509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40643EA-1837-3293-3A46-3BFAE370FDC0}"/>
              </a:ext>
            </a:extLst>
          </p:cNvPr>
          <p:cNvSpPr/>
          <p:nvPr/>
        </p:nvSpPr>
        <p:spPr>
          <a:xfrm>
            <a:off x="5919165" y="2214894"/>
            <a:ext cx="1020423" cy="102042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  <a:endParaRPr lang="zh-CN" altLang="en-US" sz="4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Entry_1">
            <a:extLst>
              <a:ext uri="{FF2B5EF4-FFF2-40B4-BE49-F238E27FC236}">
                <a16:creationId xmlns:a16="http://schemas.microsoft.com/office/drawing/2014/main" id="{21BF92EF-CFC3-7183-9CB1-EAB8C95BA61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161472" y="3731950"/>
            <a:ext cx="2535812" cy="492571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34255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7 w 2520280"/>
              <a:gd name="connsiteY4" fmla="*/ 6036 h 1872208"/>
              <a:gd name="connsiteX5" fmla="*/ 0 w 2520280"/>
              <a:gd name="connsiteY5" fmla="*/ 0 h 1872208"/>
              <a:gd name="connsiteX0" fmla="*/ 0 w 2520280"/>
              <a:gd name="connsiteY0" fmla="*/ 1890314 h 1890314"/>
              <a:gd name="connsiteX1" fmla="*/ 2520280 w 2520280"/>
              <a:gd name="connsiteY1" fmla="*/ 1890314 h 1890314"/>
              <a:gd name="connsiteX2" fmla="*/ 0 w 2520280"/>
              <a:gd name="connsiteY2" fmla="*/ 1890314 h 1890314"/>
              <a:gd name="connsiteX3" fmla="*/ 0 w 2520280"/>
              <a:gd name="connsiteY3" fmla="*/ 18106 h 1890314"/>
              <a:gd name="connsiteX4" fmla="*/ 53304 w 2520280"/>
              <a:gd name="connsiteY4" fmla="*/ 0 h 1890314"/>
              <a:gd name="connsiteX5" fmla="*/ 0 w 2520280"/>
              <a:gd name="connsiteY5" fmla="*/ 18106 h 1890314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6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20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物理结构设计</a:t>
            </a:r>
            <a:endParaRPr lang="zh-CN" altLang="en-US" sz="140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7402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0">
        <p15:prstTrans prst="wind"/>
      </p:transition>
    </mc:Choice>
    <mc:Fallback xmlns="">
      <p:transition spd="slow" advTm="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40000" fill="hold" grpId="0" nodeType="click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40000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56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7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8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0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4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4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56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7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8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0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5" grpId="0"/>
          <p:bldP spid="9" grpId="0"/>
          <p:bldP spid="10" grpId="0"/>
          <p:bldP spid="11" grpId="0"/>
          <p:bldP spid="12" grpId="0"/>
        </p:bldLst>
      </p:timing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8D2C1-F89B-A5D9-CC64-019429500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8">
            <a:extLst>
              <a:ext uri="{FF2B5EF4-FFF2-40B4-BE49-F238E27FC236}">
                <a16:creationId xmlns:a16="http://schemas.microsoft.com/office/drawing/2014/main" id="{9BF8DE4C-6B22-FAFD-3F6A-178DDFE2260C}"/>
              </a:ext>
            </a:extLst>
          </p:cNvPr>
          <p:cNvSpPr txBox="1"/>
          <p:nvPr/>
        </p:nvSpPr>
        <p:spPr>
          <a:xfrm>
            <a:off x="812751" y="87933"/>
            <a:ext cx="394915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应用系统设计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C393FC7-07D2-569B-0096-BCB0AB2E9B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133" y="6198107"/>
            <a:ext cx="1099536" cy="101786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B83DDF5-6BEB-0768-BCF4-66FDEE3E590C}"/>
              </a:ext>
            </a:extLst>
          </p:cNvPr>
          <p:cNvSpPr txBox="1"/>
          <p:nvPr/>
        </p:nvSpPr>
        <p:spPr>
          <a:xfrm>
            <a:off x="690984" y="518871"/>
            <a:ext cx="1147678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  <a:ea typeface="+mn-ea"/>
              </a:rPr>
              <a:t>我们选用的数据库系统为：</a:t>
            </a:r>
            <a:r>
              <a:rPr lang="en-US" altLang="zh-CN" sz="2000" b="1" dirty="0">
                <a:latin typeface="+mn-ea"/>
                <a:ea typeface="+mn-ea"/>
              </a:rPr>
              <a:t>SQLite 3</a:t>
            </a:r>
          </a:p>
          <a:p>
            <a:endParaRPr lang="en-US" altLang="zh-CN" sz="2000" b="1" dirty="0">
              <a:latin typeface="+mn-ea"/>
              <a:ea typeface="+mn-ea"/>
            </a:endParaRPr>
          </a:p>
          <a:p>
            <a:r>
              <a:rPr lang="zh-CN" altLang="en-US" sz="2000" dirty="0">
                <a:latin typeface="+mn-ea"/>
                <a:ea typeface="+mn-ea"/>
              </a:rPr>
              <a:t>理由： 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en-US" altLang="zh-CN" sz="2000" dirty="0">
                <a:latin typeface="+mn-ea"/>
                <a:ea typeface="+mn-ea"/>
              </a:rPr>
              <a:t>1.</a:t>
            </a:r>
            <a:r>
              <a:rPr lang="zh-CN" altLang="en-US" sz="2000" dirty="0">
                <a:latin typeface="+mn-ea"/>
                <a:ea typeface="+mn-ea"/>
              </a:rPr>
              <a:t>轻量级与零配置：无需安装服务器，单文件存储，非常适合个人桌面应用（</a:t>
            </a:r>
            <a:r>
              <a:rPr lang="en-US" altLang="zh-CN" sz="2000" dirty="0">
                <a:latin typeface="+mn-ea"/>
                <a:ea typeface="+mn-ea"/>
              </a:rPr>
              <a:t>MVP</a:t>
            </a:r>
            <a:r>
              <a:rPr lang="zh-CN" altLang="en-US" sz="2000" dirty="0">
                <a:latin typeface="+mn-ea"/>
                <a:ea typeface="+mn-ea"/>
              </a:rPr>
              <a:t>）。 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en-US" altLang="zh-CN" sz="2000" dirty="0">
                <a:latin typeface="+mn-ea"/>
                <a:ea typeface="+mn-ea"/>
              </a:rPr>
              <a:t>2.</a:t>
            </a:r>
            <a:r>
              <a:rPr lang="zh-CN" altLang="en-US" sz="2000" dirty="0">
                <a:latin typeface="+mn-ea"/>
                <a:ea typeface="+mn-ea"/>
              </a:rPr>
              <a:t>跨平台支持：完美适配 </a:t>
            </a:r>
            <a:r>
              <a:rPr lang="en-US" altLang="zh-CN" sz="2000" dirty="0">
                <a:latin typeface="+mn-ea"/>
                <a:ea typeface="+mn-ea"/>
              </a:rPr>
              <a:t>Electron</a:t>
            </a:r>
            <a:r>
              <a:rPr lang="zh-CN" altLang="en-US" sz="2000" dirty="0">
                <a:latin typeface="+mn-ea"/>
                <a:ea typeface="+mn-ea"/>
              </a:rPr>
              <a:t>、</a:t>
            </a:r>
            <a:r>
              <a:rPr lang="en-US" altLang="zh-CN" sz="2000" dirty="0">
                <a:latin typeface="+mn-ea"/>
                <a:ea typeface="+mn-ea"/>
              </a:rPr>
              <a:t>Flutter </a:t>
            </a:r>
            <a:r>
              <a:rPr lang="zh-CN" altLang="en-US" sz="2000" dirty="0">
                <a:latin typeface="+mn-ea"/>
                <a:ea typeface="+mn-ea"/>
              </a:rPr>
              <a:t>等客户端框架。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en-US" altLang="zh-CN" sz="2000" dirty="0">
                <a:latin typeface="+mn-ea"/>
                <a:ea typeface="+mn-ea"/>
              </a:rPr>
              <a:t>3.</a:t>
            </a:r>
            <a:r>
              <a:rPr lang="zh-CN" altLang="en-US" sz="2000" dirty="0">
                <a:latin typeface="+mn-ea"/>
                <a:ea typeface="+mn-ea"/>
              </a:rPr>
              <a:t>数据主权：用户可以直接复制 </a:t>
            </a:r>
            <a:r>
              <a:rPr lang="en-US" altLang="zh-CN" sz="2000" dirty="0">
                <a:latin typeface="+mn-ea"/>
                <a:ea typeface="+mn-ea"/>
              </a:rPr>
              <a:t>`.</a:t>
            </a:r>
            <a:r>
              <a:rPr lang="en-US" altLang="zh-CN" sz="2000" dirty="0" err="1">
                <a:latin typeface="+mn-ea"/>
                <a:ea typeface="+mn-ea"/>
              </a:rPr>
              <a:t>db</a:t>
            </a:r>
            <a:r>
              <a:rPr lang="en-US" altLang="zh-CN" sz="2000" dirty="0">
                <a:latin typeface="+mn-ea"/>
                <a:ea typeface="+mn-ea"/>
              </a:rPr>
              <a:t>`</a:t>
            </a:r>
            <a:r>
              <a:rPr lang="zh-CN" altLang="en-US" sz="2000" dirty="0">
                <a:latin typeface="+mn-ea"/>
                <a:ea typeface="+mn-ea"/>
              </a:rPr>
              <a:t> 文件进行备份，符合项目“数据掌握在用户手中”的理念。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en-US" altLang="zh-CN" sz="2000" dirty="0">
                <a:latin typeface="+mn-ea"/>
                <a:ea typeface="+mn-ea"/>
              </a:rPr>
              <a:t>4.</a:t>
            </a:r>
            <a:r>
              <a:rPr lang="zh-CN" altLang="en-US" sz="2000" dirty="0">
                <a:latin typeface="+mn-ea"/>
                <a:ea typeface="+mn-ea"/>
              </a:rPr>
              <a:t>功能足够：支持事务、外键约束和 </a:t>
            </a:r>
            <a:r>
              <a:rPr lang="en-US" altLang="zh-CN" sz="2000" dirty="0">
                <a:latin typeface="+mn-ea"/>
                <a:ea typeface="+mn-ea"/>
              </a:rPr>
              <a:t>JSON </a:t>
            </a:r>
            <a:r>
              <a:rPr lang="zh-CN" altLang="en-US" sz="2000" dirty="0">
                <a:latin typeface="+mn-ea"/>
                <a:ea typeface="+mn-ea"/>
              </a:rPr>
              <a:t>处理，满足本项目需求。</a:t>
            </a:r>
            <a:endParaRPr lang="en-US" altLang="zh-CN" sz="2000" dirty="0">
              <a:latin typeface="+mn-ea"/>
              <a:ea typeface="+mn-ea"/>
            </a:endParaRPr>
          </a:p>
          <a:p>
            <a:endParaRPr lang="en-US" altLang="zh-CN" sz="2000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DDL</a:t>
            </a:r>
            <a:r>
              <a:rPr lang="zh-CN" altLang="en-US" sz="2000" b="1" dirty="0">
                <a:latin typeface="+mn-ea"/>
                <a:ea typeface="+mn-ea"/>
              </a:rPr>
              <a:t>建表语句详见设计文档。</a:t>
            </a:r>
            <a:endParaRPr lang="en-US" altLang="zh-CN" sz="2000" b="1" dirty="0">
              <a:latin typeface="+mn-ea"/>
              <a:ea typeface="+mn-ea"/>
            </a:endParaRPr>
          </a:p>
          <a:p>
            <a:endParaRPr lang="en-US" altLang="zh-CN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索引如下</a:t>
            </a:r>
          </a:p>
          <a:p>
            <a:pPr>
              <a:buNone/>
            </a:pPr>
            <a:endParaRPr lang="zh-CN" altLang="en-US" sz="2000" b="1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69D89B43-D8FA-6546-0332-9D7F5160E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4898" y="3616324"/>
            <a:ext cx="9070534" cy="359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20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9D566-AEDC-E1F9-D730-19760FC0F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F4AA380B-7894-BAAA-6256-A606DD293E81}"/>
              </a:ext>
            </a:extLst>
          </p:cNvPr>
          <p:cNvSpPr/>
          <p:nvPr/>
        </p:nvSpPr>
        <p:spPr>
          <a:xfrm>
            <a:off x="4238836" y="3493251"/>
            <a:ext cx="4381081" cy="96997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720" tIns="36359" rIns="72720" bIns="36359" rtlCol="0" anchor="ctr"/>
          <a:lstStyle/>
          <a:p>
            <a:pPr algn="ctr"/>
            <a:endParaRPr lang="zh-CN" altLang="en-US" sz="1509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650686E-2947-E859-E505-458715F4E917}"/>
              </a:ext>
            </a:extLst>
          </p:cNvPr>
          <p:cNvSpPr/>
          <p:nvPr/>
        </p:nvSpPr>
        <p:spPr>
          <a:xfrm>
            <a:off x="5919165" y="2214894"/>
            <a:ext cx="1020423" cy="102042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05</a:t>
            </a:r>
            <a:endParaRPr lang="zh-CN" altLang="en-US" sz="4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Entry_1">
            <a:extLst>
              <a:ext uri="{FF2B5EF4-FFF2-40B4-BE49-F238E27FC236}">
                <a16:creationId xmlns:a16="http://schemas.microsoft.com/office/drawing/2014/main" id="{8FCA8A08-F63D-4AF0-B6A9-DDF83844038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161472" y="3731950"/>
            <a:ext cx="2535812" cy="492571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34255 w 2520280"/>
              <a:gd name="connsiteY4" fmla="*/ 0 h 1872208"/>
              <a:gd name="connsiteX5" fmla="*/ 0 w 2520280"/>
              <a:gd name="connsiteY5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7 w 2520280"/>
              <a:gd name="connsiteY4" fmla="*/ 6036 h 1872208"/>
              <a:gd name="connsiteX5" fmla="*/ 0 w 2520280"/>
              <a:gd name="connsiteY5" fmla="*/ 0 h 1872208"/>
              <a:gd name="connsiteX0" fmla="*/ 0 w 2520280"/>
              <a:gd name="connsiteY0" fmla="*/ 1890314 h 1890314"/>
              <a:gd name="connsiteX1" fmla="*/ 2520280 w 2520280"/>
              <a:gd name="connsiteY1" fmla="*/ 1890314 h 1890314"/>
              <a:gd name="connsiteX2" fmla="*/ 0 w 2520280"/>
              <a:gd name="connsiteY2" fmla="*/ 1890314 h 1890314"/>
              <a:gd name="connsiteX3" fmla="*/ 0 w 2520280"/>
              <a:gd name="connsiteY3" fmla="*/ 18106 h 1890314"/>
              <a:gd name="connsiteX4" fmla="*/ 53304 w 2520280"/>
              <a:gd name="connsiteY4" fmla="*/ 0 h 1890314"/>
              <a:gd name="connsiteX5" fmla="*/ 0 w 2520280"/>
              <a:gd name="connsiteY5" fmla="*/ 18106 h 1890314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916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20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应用系统设计</a:t>
            </a:r>
            <a:endParaRPr lang="zh-CN" altLang="en-US" sz="140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6385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0">
        <p15:prstTrans prst="wind"/>
      </p:transition>
    </mc:Choice>
    <mc:Fallback xmlns="">
      <p:transition spd="slow" advTm="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40000" fill="hold" grpId="0" nodeType="click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40000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56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7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8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0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5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4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4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56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7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8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0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5" grpId="0"/>
        </p:bldLst>
      </p:timing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00ADE-EE5E-A029-81D3-EDE597164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8">
            <a:extLst>
              <a:ext uri="{FF2B5EF4-FFF2-40B4-BE49-F238E27FC236}">
                <a16:creationId xmlns:a16="http://schemas.microsoft.com/office/drawing/2014/main" id="{0DE9E9AE-2049-E397-7A5C-F08C68DCC39D}"/>
              </a:ext>
            </a:extLst>
          </p:cNvPr>
          <p:cNvSpPr txBox="1"/>
          <p:nvPr/>
        </p:nvSpPr>
        <p:spPr>
          <a:xfrm>
            <a:off x="812751" y="87933"/>
            <a:ext cx="394915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应用系统设计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8FA403E-1809-293B-1981-A8763B61F8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133" y="6198107"/>
            <a:ext cx="1099536" cy="101786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99B92C3-719E-24DF-DEEF-547A9F173F57}"/>
              </a:ext>
            </a:extLst>
          </p:cNvPr>
          <p:cNvSpPr txBox="1"/>
          <p:nvPr/>
        </p:nvSpPr>
        <p:spPr>
          <a:xfrm>
            <a:off x="690984" y="518871"/>
            <a:ext cx="11476781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系统架构模式</a:t>
            </a:r>
            <a:endParaRPr lang="en-US" altLang="zh-CN" sz="2000" b="1" dirty="0"/>
          </a:p>
          <a:p>
            <a:endParaRPr lang="zh-CN" altLang="en-US" sz="2000" dirty="0"/>
          </a:p>
          <a:p>
            <a:r>
              <a:rPr lang="zh-CN" altLang="en-US" sz="2000" dirty="0"/>
              <a:t>本项目采用 </a:t>
            </a:r>
            <a:r>
              <a:rPr lang="zh-CN" altLang="en-US" sz="2000" b="1" dirty="0"/>
              <a:t>**</a:t>
            </a:r>
            <a:r>
              <a:rPr lang="en-US" altLang="zh-CN" sz="2000" b="1" dirty="0"/>
              <a:t>Local-First (</a:t>
            </a:r>
            <a:r>
              <a:rPr lang="zh-CN" altLang="en-US" sz="2000" b="1" dirty="0"/>
              <a:t>本地优先</a:t>
            </a:r>
            <a:r>
              <a:rPr lang="en-US" altLang="zh-CN" sz="2000" b="1" dirty="0"/>
              <a:t>)**</a:t>
            </a:r>
            <a:r>
              <a:rPr lang="zh-CN" altLang="en-US" sz="2000" dirty="0"/>
              <a:t> 的桌面客户端架构，结合 </a:t>
            </a:r>
            <a:r>
              <a:rPr lang="zh-CN" altLang="en-US" sz="2000" b="1" dirty="0"/>
              <a:t>**</a:t>
            </a:r>
            <a:r>
              <a:rPr lang="en-US" altLang="zh-CN" sz="2000" b="1" dirty="0"/>
              <a:t>P2P (</a:t>
            </a:r>
            <a:r>
              <a:rPr lang="zh-CN" altLang="en-US" sz="2000" b="1" dirty="0"/>
              <a:t>点对点</a:t>
            </a:r>
            <a:r>
              <a:rPr lang="en-US" altLang="zh-CN" sz="2000" b="1" dirty="0"/>
              <a:t>)**</a:t>
            </a:r>
            <a:r>
              <a:rPr lang="zh-CN" altLang="en-US" sz="2000" dirty="0"/>
              <a:t> 同步机制。</a:t>
            </a:r>
          </a:p>
          <a:p>
            <a:r>
              <a:rPr lang="zh-CN" altLang="en-US" sz="2000" dirty="0"/>
              <a:t>*   </a:t>
            </a:r>
            <a:r>
              <a:rPr lang="zh-CN" altLang="en-US" sz="2000" b="1" dirty="0"/>
              <a:t>**本地优先**</a:t>
            </a:r>
            <a:r>
              <a:rPr lang="zh-CN" altLang="en-US" sz="2000" dirty="0"/>
              <a:t>：每个设备都拥有完整的应用程序和 </a:t>
            </a:r>
            <a:r>
              <a:rPr lang="en-US" altLang="zh-CN" sz="2000" dirty="0"/>
              <a:t>SQLite </a:t>
            </a:r>
            <a:r>
              <a:rPr lang="zh-CN" altLang="en-US" sz="2000" dirty="0"/>
              <a:t>数据库副本，断网状态下依然可以进行完整的增删改查操作。</a:t>
            </a:r>
          </a:p>
          <a:p>
            <a:r>
              <a:rPr lang="zh-CN" altLang="en-US" sz="2000" dirty="0"/>
              <a:t>*   </a:t>
            </a:r>
            <a:r>
              <a:rPr lang="zh-CN" altLang="en-US" sz="2000" b="1" dirty="0"/>
              <a:t>**去中心化同步**</a:t>
            </a:r>
            <a:r>
              <a:rPr lang="zh-CN" altLang="en-US" sz="2000" dirty="0"/>
              <a:t>：设备间通过局域网 </a:t>
            </a:r>
            <a:r>
              <a:rPr lang="en-US" altLang="zh-CN" sz="2000" dirty="0"/>
              <a:t>(LAN) </a:t>
            </a:r>
            <a:r>
              <a:rPr lang="zh-CN" altLang="en-US" sz="2000" dirty="0"/>
              <a:t>直接通信以同步元数据，无需依赖中心服务器，符合 </a:t>
            </a:r>
            <a:r>
              <a:rPr lang="en-US" altLang="zh-CN" sz="2000" dirty="0"/>
              <a:t>MVP </a:t>
            </a:r>
            <a:r>
              <a:rPr lang="zh-CN" altLang="en-US" sz="2000" dirty="0"/>
              <a:t>低成本、高隐私的需求。</a:t>
            </a:r>
          </a:p>
          <a:p>
            <a:endParaRPr lang="en-US" altLang="zh-CN" sz="2000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技术栈选型 </a:t>
            </a:r>
            <a:endParaRPr lang="en-US" altLang="zh-CN" sz="2000" b="1" dirty="0">
              <a:latin typeface="+mn-ea"/>
              <a:ea typeface="+mn-ea"/>
            </a:endParaRPr>
          </a:p>
          <a:p>
            <a:endParaRPr lang="en-US" altLang="zh-CN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应用框架</a:t>
            </a:r>
            <a:r>
              <a:rPr lang="en-US" altLang="zh-CN" sz="2000" b="1" dirty="0">
                <a:latin typeface="+mn-ea"/>
                <a:ea typeface="+mn-ea"/>
              </a:rPr>
              <a:t>:Electron</a:t>
            </a:r>
          </a:p>
          <a:p>
            <a:r>
              <a:rPr lang="zh-CN" altLang="en-US" sz="2000" i="1" dirty="0">
                <a:latin typeface="+mn-ea"/>
                <a:ea typeface="+mn-ea"/>
              </a:rPr>
              <a:t>理由：</a:t>
            </a:r>
            <a:r>
              <a:rPr lang="zh-CN" altLang="en-US" sz="2000" dirty="0">
                <a:latin typeface="+mn-ea"/>
                <a:ea typeface="+mn-ea"/>
              </a:rPr>
              <a:t>使用 </a:t>
            </a:r>
            <a:r>
              <a:rPr lang="en-US" altLang="zh-CN" sz="2000" dirty="0">
                <a:latin typeface="+mn-ea"/>
                <a:ea typeface="+mn-ea"/>
              </a:rPr>
              <a:t>Web </a:t>
            </a:r>
            <a:r>
              <a:rPr lang="zh-CN" altLang="en-US" sz="2000" dirty="0">
                <a:latin typeface="+mn-ea"/>
                <a:ea typeface="+mn-ea"/>
              </a:rPr>
              <a:t>技术 </a:t>
            </a:r>
            <a:r>
              <a:rPr lang="en-US" altLang="zh-CN" sz="2000" dirty="0">
                <a:latin typeface="+mn-ea"/>
                <a:ea typeface="+mn-ea"/>
              </a:rPr>
              <a:t>(HTML/CSS/JS) </a:t>
            </a:r>
            <a:r>
              <a:rPr lang="zh-CN" altLang="en-US" sz="2000" dirty="0">
                <a:latin typeface="+mn-ea"/>
                <a:ea typeface="+mn-ea"/>
              </a:rPr>
              <a:t>开发界面，开发效率高，且能直接调用 </a:t>
            </a:r>
            <a:r>
              <a:rPr lang="en-US" altLang="zh-CN" sz="2000" dirty="0">
                <a:latin typeface="+mn-ea"/>
                <a:ea typeface="+mn-ea"/>
              </a:rPr>
              <a:t>Node.js API </a:t>
            </a:r>
            <a:r>
              <a:rPr lang="zh-CN" altLang="en-US" sz="2000" dirty="0">
                <a:latin typeface="+mn-ea"/>
                <a:ea typeface="+mn-ea"/>
              </a:rPr>
              <a:t>操作本地文件系统（读取文件、计算 </a:t>
            </a:r>
            <a:r>
              <a:rPr lang="en-US" altLang="zh-CN" sz="2000" dirty="0">
                <a:latin typeface="+mn-ea"/>
                <a:ea typeface="+mn-ea"/>
              </a:rPr>
              <a:t>Hash</a:t>
            </a:r>
            <a:r>
              <a:rPr lang="zh-CN" altLang="en-US" sz="2000" dirty="0">
                <a:latin typeface="+mn-ea"/>
                <a:ea typeface="+mn-ea"/>
              </a:rPr>
              <a:t>）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前端视图</a:t>
            </a:r>
            <a:r>
              <a:rPr lang="en-US" altLang="zh-CN" sz="2000" b="1" dirty="0">
                <a:latin typeface="+mn-ea"/>
                <a:ea typeface="+mn-ea"/>
              </a:rPr>
              <a:t>:React</a:t>
            </a:r>
            <a:r>
              <a:rPr lang="zh-CN" altLang="en-US" sz="2000" b="1" dirty="0">
                <a:latin typeface="+mn-ea"/>
                <a:ea typeface="+mn-ea"/>
              </a:rPr>
              <a:t> </a:t>
            </a:r>
            <a:r>
              <a:rPr lang="en-US" altLang="zh-CN" sz="2000" b="1" dirty="0">
                <a:latin typeface="+mn-ea"/>
                <a:ea typeface="+mn-ea"/>
              </a:rPr>
              <a:t>+ Material UI</a:t>
            </a:r>
            <a:endParaRPr lang="zh-CN" altLang="en-US" sz="2000" b="1" dirty="0">
              <a:latin typeface="+mn-ea"/>
              <a:ea typeface="+mn-ea"/>
            </a:endParaRPr>
          </a:p>
          <a:p>
            <a:r>
              <a:rPr lang="zh-CN" altLang="en-US" sz="2000" i="1" dirty="0">
                <a:latin typeface="+mn-ea"/>
                <a:ea typeface="+mn-ea"/>
              </a:rPr>
              <a:t>理由</a:t>
            </a:r>
            <a:r>
              <a:rPr lang="zh-CN" altLang="en-US" sz="2000" dirty="0">
                <a:latin typeface="+mn-ea"/>
                <a:ea typeface="+mn-ea"/>
              </a:rPr>
              <a:t>：组件化开发，适合构建复杂的管理界面（如文件夹树、资源列表），</a:t>
            </a:r>
            <a:r>
              <a:rPr lang="en-US" altLang="zh-CN" sz="2000" dirty="0">
                <a:latin typeface="+mn-ea"/>
                <a:ea typeface="+mn-ea"/>
              </a:rPr>
              <a:t>Material UI </a:t>
            </a:r>
            <a:r>
              <a:rPr lang="zh-CN" altLang="en-US" sz="2000" dirty="0">
                <a:latin typeface="+mn-ea"/>
                <a:ea typeface="+mn-ea"/>
              </a:rPr>
              <a:t>提供现成的美观组件。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数据存储</a:t>
            </a:r>
            <a:r>
              <a:rPr lang="en-US" altLang="zh-CN" sz="2000" b="1" dirty="0">
                <a:latin typeface="+mn-ea"/>
                <a:ea typeface="+mn-ea"/>
              </a:rPr>
              <a:t>:SQLite 3</a:t>
            </a:r>
            <a:r>
              <a:rPr lang="zh-CN" altLang="en-US" sz="2000" b="1" dirty="0">
                <a:latin typeface="+mn-ea"/>
                <a:ea typeface="+mn-ea"/>
              </a:rPr>
              <a:t> </a:t>
            </a:r>
            <a:r>
              <a:rPr lang="en-US" altLang="zh-CN" sz="2000" dirty="0">
                <a:latin typeface="+mn-ea"/>
                <a:ea typeface="+mn-ea"/>
              </a:rPr>
              <a:t>(</a:t>
            </a:r>
            <a:r>
              <a:rPr lang="zh-CN" altLang="en-US" sz="2000" dirty="0">
                <a:latin typeface="+mn-ea"/>
                <a:ea typeface="+mn-ea"/>
              </a:rPr>
              <a:t>使用 </a:t>
            </a:r>
            <a:r>
              <a:rPr lang="en-US" altLang="zh-CN" sz="2000" dirty="0">
                <a:latin typeface="+mn-ea"/>
                <a:ea typeface="+mn-ea"/>
              </a:rPr>
              <a:t>`better-sqlite3`</a:t>
            </a:r>
            <a:r>
              <a:rPr lang="zh-CN" altLang="en-US" sz="2000" dirty="0">
                <a:latin typeface="+mn-ea"/>
                <a:ea typeface="+mn-ea"/>
              </a:rPr>
              <a:t> 或 </a:t>
            </a:r>
            <a:r>
              <a:rPr lang="en-US" altLang="zh-CN" sz="2000" dirty="0">
                <a:latin typeface="+mn-ea"/>
                <a:ea typeface="+mn-ea"/>
              </a:rPr>
              <a:t>`sqlite3`</a:t>
            </a:r>
            <a:r>
              <a:rPr lang="zh-CN" altLang="en-US" sz="2000" dirty="0">
                <a:latin typeface="+mn-ea"/>
                <a:ea typeface="+mn-ea"/>
              </a:rPr>
              <a:t> 库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</a:p>
          <a:p>
            <a:r>
              <a:rPr lang="zh-CN" altLang="en-US" sz="2000" i="1" dirty="0">
                <a:latin typeface="+mn-ea"/>
                <a:ea typeface="+mn-ea"/>
              </a:rPr>
              <a:t>理由</a:t>
            </a:r>
            <a:r>
              <a:rPr lang="zh-CN" altLang="en-US" sz="2000" dirty="0">
                <a:latin typeface="+mn-ea"/>
                <a:ea typeface="+mn-ea"/>
              </a:rPr>
              <a:t>：嵌入式数据库标准，无需安装服务，单文件存储，性能优异。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网络通信</a:t>
            </a:r>
            <a:r>
              <a:rPr lang="en-US" altLang="zh-CN" sz="2000" b="1" dirty="0">
                <a:latin typeface="+mn-ea"/>
                <a:ea typeface="+mn-ea"/>
              </a:rPr>
              <a:t>:Node.js HTTP / WebSocket</a:t>
            </a:r>
            <a:endParaRPr lang="zh-CN" altLang="en-US" sz="2000" b="1" dirty="0">
              <a:latin typeface="+mn-ea"/>
              <a:ea typeface="+mn-ea"/>
            </a:endParaRPr>
          </a:p>
          <a:p>
            <a:r>
              <a:rPr lang="zh-CN" altLang="en-US" sz="2000" i="1" dirty="0">
                <a:latin typeface="+mn-ea"/>
                <a:ea typeface="+mn-ea"/>
              </a:rPr>
              <a:t>理由</a:t>
            </a:r>
            <a:r>
              <a:rPr lang="zh-CN" altLang="en-US" sz="2000" dirty="0">
                <a:latin typeface="+mn-ea"/>
                <a:ea typeface="+mn-ea"/>
              </a:rPr>
              <a:t>：在应用内启动轻量级 </a:t>
            </a:r>
            <a:r>
              <a:rPr lang="en-US" altLang="zh-CN" sz="2000" dirty="0">
                <a:latin typeface="+mn-ea"/>
                <a:ea typeface="+mn-ea"/>
              </a:rPr>
              <a:t>HTTP </a:t>
            </a:r>
            <a:r>
              <a:rPr lang="zh-CN" altLang="en-US" sz="2000" dirty="0">
                <a:latin typeface="+mn-ea"/>
                <a:ea typeface="+mn-ea"/>
              </a:rPr>
              <a:t>服务，用于局域网内设备发现和 </a:t>
            </a:r>
            <a:r>
              <a:rPr lang="en-US" altLang="zh-CN" sz="2000" dirty="0">
                <a:latin typeface="+mn-ea"/>
                <a:ea typeface="+mn-ea"/>
              </a:rPr>
              <a:t>JSON </a:t>
            </a:r>
            <a:r>
              <a:rPr lang="zh-CN" altLang="en-US" sz="2000" dirty="0">
                <a:latin typeface="+mn-ea"/>
                <a:ea typeface="+mn-ea"/>
              </a:rPr>
              <a:t>数据交换。</a:t>
            </a:r>
          </a:p>
          <a:p>
            <a:endParaRPr lang="zh-CN" altLang="en-US" sz="2000" b="1" dirty="0">
              <a:latin typeface="+mn-ea"/>
              <a:ea typeface="+mn-ea"/>
            </a:endParaRPr>
          </a:p>
          <a:p>
            <a:pPr>
              <a:buNone/>
            </a:pPr>
            <a:endParaRPr lang="zh-CN" altLang="en-US" sz="2000" b="1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71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1377A-E2E1-C571-8100-97825FF60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8">
            <a:extLst>
              <a:ext uri="{FF2B5EF4-FFF2-40B4-BE49-F238E27FC236}">
                <a16:creationId xmlns:a16="http://schemas.microsoft.com/office/drawing/2014/main" id="{C4968636-B09A-1F09-D0E0-05F47D8AF278}"/>
              </a:ext>
            </a:extLst>
          </p:cNvPr>
          <p:cNvSpPr txBox="1"/>
          <p:nvPr/>
        </p:nvSpPr>
        <p:spPr>
          <a:xfrm>
            <a:off x="812751" y="87933"/>
            <a:ext cx="394915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应用系统设计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B10B933-8591-A83C-87BE-5B929491EF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133" y="6198107"/>
            <a:ext cx="1099536" cy="101786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880F9E4-0AA5-FBDE-55EA-7ED1BA7613B9}"/>
              </a:ext>
            </a:extLst>
          </p:cNvPr>
          <p:cNvSpPr txBox="1"/>
          <p:nvPr/>
        </p:nvSpPr>
        <p:spPr>
          <a:xfrm>
            <a:off x="690984" y="518871"/>
            <a:ext cx="11476781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  <a:ea typeface="+mn-ea"/>
              </a:rPr>
              <a:t>模块划分 </a:t>
            </a:r>
            <a:endParaRPr lang="en-US" altLang="zh-CN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系统遵循经典的分层架构设计：</a:t>
            </a:r>
          </a:p>
          <a:p>
            <a:endParaRPr lang="zh-CN" altLang="en-US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1.</a:t>
            </a:r>
            <a:r>
              <a:rPr lang="zh-CN" altLang="en-US" sz="2000" b="1" dirty="0">
                <a:latin typeface="+mn-ea"/>
                <a:ea typeface="+mn-ea"/>
              </a:rPr>
              <a:t> 表现层 </a:t>
            </a:r>
            <a:r>
              <a:rPr lang="en-US" altLang="zh-CN" sz="2000" b="1" dirty="0">
                <a:latin typeface="+mn-ea"/>
                <a:ea typeface="+mn-ea"/>
              </a:rPr>
              <a:t>:</a:t>
            </a:r>
          </a:p>
          <a:p>
            <a:r>
              <a:rPr lang="zh-CN" altLang="en-US" sz="2000" dirty="0">
                <a:latin typeface="+mn-ea"/>
                <a:ea typeface="+mn-ea"/>
              </a:rPr>
              <a:t>负责 </a:t>
            </a:r>
            <a:r>
              <a:rPr lang="en-US" altLang="zh-CN" sz="2000" dirty="0">
                <a:latin typeface="+mn-ea"/>
                <a:ea typeface="+mn-ea"/>
              </a:rPr>
              <a:t>UI </a:t>
            </a:r>
            <a:r>
              <a:rPr lang="zh-CN" altLang="en-US" sz="2000" dirty="0">
                <a:latin typeface="+mn-ea"/>
                <a:ea typeface="+mn-ea"/>
              </a:rPr>
              <a:t>渲染和用户交互。</a:t>
            </a:r>
          </a:p>
          <a:p>
            <a:r>
              <a:rPr lang="zh-CN" altLang="en-US" sz="2000" dirty="0">
                <a:latin typeface="+mn-ea"/>
                <a:ea typeface="+mn-ea"/>
              </a:rPr>
              <a:t>核心组件：</a:t>
            </a:r>
            <a:r>
              <a:rPr lang="en-US" altLang="zh-CN" sz="2000" dirty="0">
                <a:latin typeface="+mn-ea"/>
                <a:ea typeface="+mn-ea"/>
              </a:rPr>
              <a:t>`</a:t>
            </a:r>
            <a:r>
              <a:rPr lang="en-US" altLang="zh-CN" sz="2000" dirty="0" err="1">
                <a:latin typeface="+mn-ea"/>
                <a:ea typeface="+mn-ea"/>
              </a:rPr>
              <a:t>ResourceList</a:t>
            </a:r>
            <a:r>
              <a:rPr lang="en-US" altLang="zh-CN" sz="2000" dirty="0">
                <a:latin typeface="+mn-ea"/>
                <a:ea typeface="+mn-ea"/>
              </a:rPr>
              <a:t>` (</a:t>
            </a:r>
            <a:r>
              <a:rPr lang="zh-CN" altLang="en-US" sz="2000" dirty="0">
                <a:latin typeface="+mn-ea"/>
                <a:ea typeface="+mn-ea"/>
              </a:rPr>
              <a:t>资源列表</a:t>
            </a:r>
            <a:r>
              <a:rPr lang="en-US" altLang="zh-CN" sz="2000" dirty="0">
                <a:latin typeface="+mn-ea"/>
                <a:ea typeface="+mn-ea"/>
              </a:rPr>
              <a:t>), `</a:t>
            </a:r>
            <a:r>
              <a:rPr lang="en-US" altLang="zh-CN" sz="2000" dirty="0" err="1">
                <a:latin typeface="+mn-ea"/>
                <a:ea typeface="+mn-ea"/>
              </a:rPr>
              <a:t>FolderTree</a:t>
            </a:r>
            <a:r>
              <a:rPr lang="en-US" altLang="zh-CN" sz="2000" dirty="0">
                <a:latin typeface="+mn-ea"/>
                <a:ea typeface="+mn-ea"/>
              </a:rPr>
              <a:t>` (</a:t>
            </a:r>
            <a:r>
              <a:rPr lang="zh-CN" altLang="en-US" sz="2000" dirty="0">
                <a:latin typeface="+mn-ea"/>
                <a:ea typeface="+mn-ea"/>
              </a:rPr>
              <a:t>文件夹树</a:t>
            </a:r>
            <a:r>
              <a:rPr lang="en-US" altLang="zh-CN" sz="2000" dirty="0">
                <a:latin typeface="+mn-ea"/>
                <a:ea typeface="+mn-ea"/>
              </a:rPr>
              <a:t>), `</a:t>
            </a:r>
            <a:r>
              <a:rPr lang="en-US" altLang="zh-CN" sz="2000" dirty="0" err="1">
                <a:latin typeface="+mn-ea"/>
                <a:ea typeface="+mn-ea"/>
              </a:rPr>
              <a:t>DetailPanel</a:t>
            </a:r>
            <a:r>
              <a:rPr lang="en-US" altLang="zh-CN" sz="2000" dirty="0">
                <a:latin typeface="+mn-ea"/>
                <a:ea typeface="+mn-ea"/>
              </a:rPr>
              <a:t>` (</a:t>
            </a:r>
            <a:r>
              <a:rPr lang="zh-CN" altLang="en-US" sz="2000" dirty="0">
                <a:latin typeface="+mn-ea"/>
                <a:ea typeface="+mn-ea"/>
              </a:rPr>
              <a:t>详情面板</a:t>
            </a:r>
            <a:r>
              <a:rPr lang="en-US" altLang="zh-CN" sz="2000" dirty="0">
                <a:latin typeface="+mn-ea"/>
                <a:ea typeface="+mn-ea"/>
              </a:rPr>
              <a:t>), `</a:t>
            </a:r>
            <a:r>
              <a:rPr lang="en-US" altLang="zh-CN" sz="2000" dirty="0" err="1">
                <a:latin typeface="+mn-ea"/>
                <a:ea typeface="+mn-ea"/>
              </a:rPr>
              <a:t>SyncStatus</a:t>
            </a:r>
            <a:r>
              <a:rPr lang="en-US" altLang="zh-CN" sz="2000" dirty="0">
                <a:latin typeface="+mn-ea"/>
                <a:ea typeface="+mn-ea"/>
              </a:rPr>
              <a:t>` (</a:t>
            </a:r>
            <a:r>
              <a:rPr lang="zh-CN" altLang="en-US" sz="2000" dirty="0">
                <a:latin typeface="+mn-ea"/>
                <a:ea typeface="+mn-ea"/>
              </a:rPr>
              <a:t>同步状态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  <a:r>
              <a:rPr lang="zh-CN" altLang="en-US" sz="2000" dirty="0">
                <a:latin typeface="+mn-ea"/>
                <a:ea typeface="+mn-ea"/>
              </a:rPr>
              <a:t>。</a:t>
            </a:r>
          </a:p>
          <a:p>
            <a:endParaRPr lang="en-US" altLang="zh-CN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2.</a:t>
            </a:r>
            <a:r>
              <a:rPr lang="zh-CN" altLang="en-US" sz="2000" b="1" dirty="0">
                <a:latin typeface="+mn-ea"/>
                <a:ea typeface="+mn-ea"/>
              </a:rPr>
              <a:t> 业务逻辑层 </a:t>
            </a:r>
            <a:r>
              <a:rPr lang="en-US" altLang="zh-CN" sz="2000" b="1" dirty="0">
                <a:latin typeface="+mn-ea"/>
                <a:ea typeface="+mn-ea"/>
              </a:rPr>
              <a:t>: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处理核心业务规则，连接 </a:t>
            </a:r>
            <a:r>
              <a:rPr lang="en-US" altLang="zh-CN" sz="2000" b="1" dirty="0">
                <a:latin typeface="+mn-ea"/>
                <a:ea typeface="+mn-ea"/>
              </a:rPr>
              <a:t>UI </a:t>
            </a:r>
            <a:r>
              <a:rPr lang="zh-CN" altLang="en-US" sz="2000" b="1" dirty="0">
                <a:latin typeface="+mn-ea"/>
                <a:ea typeface="+mn-ea"/>
              </a:rPr>
              <a:t>与数据库。</a:t>
            </a:r>
          </a:p>
          <a:p>
            <a:r>
              <a:rPr lang="en-US" altLang="zh-CN" sz="2000" dirty="0" err="1">
                <a:latin typeface="+mn-ea"/>
                <a:ea typeface="+mn-ea"/>
              </a:rPr>
              <a:t>MediaService</a:t>
            </a:r>
            <a:r>
              <a:rPr lang="en-US" altLang="zh-CN" sz="2000" dirty="0">
                <a:latin typeface="+mn-ea"/>
                <a:ea typeface="+mn-ea"/>
              </a:rPr>
              <a:t>: </a:t>
            </a:r>
            <a:r>
              <a:rPr lang="zh-CN" altLang="en-US" sz="2000" dirty="0">
                <a:latin typeface="+mn-ea"/>
                <a:ea typeface="+mn-ea"/>
              </a:rPr>
              <a:t>处理资源的导入、整理、去重逻辑。</a:t>
            </a:r>
          </a:p>
          <a:p>
            <a:r>
              <a:rPr lang="en-US" altLang="zh-CN" sz="2000" dirty="0" err="1">
                <a:latin typeface="+mn-ea"/>
                <a:ea typeface="+mn-ea"/>
              </a:rPr>
              <a:t>SyncService</a:t>
            </a:r>
            <a:r>
              <a:rPr lang="en-US" altLang="zh-CN" sz="2000" dirty="0">
                <a:latin typeface="+mn-ea"/>
                <a:ea typeface="+mn-ea"/>
              </a:rPr>
              <a:t>: </a:t>
            </a:r>
            <a:r>
              <a:rPr lang="zh-CN" altLang="en-US" sz="2000" dirty="0">
                <a:latin typeface="+mn-ea"/>
                <a:ea typeface="+mn-ea"/>
              </a:rPr>
              <a:t>处理设备发现 </a:t>
            </a:r>
            <a:r>
              <a:rPr lang="en-US" altLang="zh-CN" sz="2000" dirty="0">
                <a:latin typeface="+mn-ea"/>
                <a:ea typeface="+mn-ea"/>
              </a:rPr>
              <a:t>(Bonjour/</a:t>
            </a:r>
            <a:r>
              <a:rPr lang="en-US" altLang="zh-CN" sz="2000" dirty="0" err="1">
                <a:latin typeface="+mn-ea"/>
                <a:ea typeface="+mn-ea"/>
              </a:rPr>
              <a:t>mDNS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  <a:r>
              <a:rPr lang="zh-CN" altLang="en-US" sz="2000" dirty="0">
                <a:latin typeface="+mn-ea"/>
                <a:ea typeface="+mn-ea"/>
              </a:rPr>
              <a:t>、元数据比对、差异拉取。</a:t>
            </a:r>
          </a:p>
          <a:p>
            <a:r>
              <a:rPr lang="en-US" altLang="zh-CN" sz="2000" dirty="0" err="1">
                <a:latin typeface="+mn-ea"/>
                <a:ea typeface="+mn-ea"/>
              </a:rPr>
              <a:t>FileService</a:t>
            </a:r>
            <a:r>
              <a:rPr lang="en-US" altLang="zh-CN" sz="2000" dirty="0">
                <a:latin typeface="+mn-ea"/>
                <a:ea typeface="+mn-ea"/>
              </a:rPr>
              <a:t>: </a:t>
            </a:r>
            <a:r>
              <a:rPr lang="zh-CN" altLang="en-US" sz="2000" dirty="0">
                <a:latin typeface="+mn-ea"/>
                <a:ea typeface="+mn-ea"/>
              </a:rPr>
              <a:t>处理本地文件系统的扫描、路径存在性检查。</a:t>
            </a:r>
            <a:endParaRPr lang="en-US" altLang="zh-CN" sz="2000" dirty="0">
              <a:latin typeface="+mn-ea"/>
              <a:ea typeface="+mn-ea"/>
            </a:endParaRPr>
          </a:p>
          <a:p>
            <a:endParaRPr lang="zh-CN" altLang="en-US" sz="2000" b="1" dirty="0">
              <a:latin typeface="+mn-ea"/>
              <a:ea typeface="+mn-ea"/>
            </a:endParaRPr>
          </a:p>
          <a:p>
            <a:r>
              <a:rPr lang="en-US" altLang="zh-CN" sz="2000" b="1" dirty="0">
                <a:latin typeface="+mn-ea"/>
                <a:ea typeface="+mn-ea"/>
              </a:rPr>
              <a:t>3.</a:t>
            </a:r>
            <a:r>
              <a:rPr lang="zh-CN" altLang="en-US" sz="2000" b="1" dirty="0">
                <a:latin typeface="+mn-ea"/>
                <a:ea typeface="+mn-ea"/>
              </a:rPr>
              <a:t> 数据访问层 </a:t>
            </a:r>
            <a:r>
              <a:rPr lang="en-US" altLang="zh-CN" sz="2000" b="1" dirty="0">
                <a:latin typeface="+mn-ea"/>
                <a:ea typeface="+mn-ea"/>
              </a:rPr>
              <a:t>:</a:t>
            </a:r>
          </a:p>
          <a:p>
            <a:r>
              <a:rPr lang="zh-CN" altLang="en-US" sz="2000" dirty="0">
                <a:latin typeface="+mn-ea"/>
                <a:ea typeface="+mn-ea"/>
              </a:rPr>
              <a:t>封装 </a:t>
            </a:r>
            <a:r>
              <a:rPr lang="en-US" altLang="zh-CN" sz="2000" dirty="0">
                <a:latin typeface="+mn-ea"/>
                <a:ea typeface="+mn-ea"/>
              </a:rPr>
              <a:t>SQL </a:t>
            </a:r>
            <a:r>
              <a:rPr lang="zh-CN" altLang="en-US" sz="2000" dirty="0">
                <a:latin typeface="+mn-ea"/>
                <a:ea typeface="+mn-ea"/>
              </a:rPr>
              <a:t>操作，提供对象化的数据接口。</a:t>
            </a:r>
          </a:p>
          <a:p>
            <a:r>
              <a:rPr lang="en-US" altLang="zh-CN" sz="2000" dirty="0" err="1">
                <a:latin typeface="+mn-ea"/>
                <a:ea typeface="+mn-ea"/>
              </a:rPr>
              <a:t>DatabaseManager</a:t>
            </a:r>
            <a:r>
              <a:rPr lang="en-US" altLang="zh-CN" sz="2000" dirty="0">
                <a:latin typeface="+mn-ea"/>
                <a:ea typeface="+mn-ea"/>
              </a:rPr>
              <a:t>: </a:t>
            </a:r>
            <a:r>
              <a:rPr lang="zh-CN" altLang="en-US" sz="2000" dirty="0">
                <a:latin typeface="+mn-ea"/>
                <a:ea typeface="+mn-ea"/>
              </a:rPr>
              <a:t>负责数据库连接、初始化建表。</a:t>
            </a:r>
          </a:p>
          <a:p>
            <a:r>
              <a:rPr lang="en-US" altLang="zh-CN" sz="2000" dirty="0">
                <a:latin typeface="+mn-ea"/>
                <a:ea typeface="+mn-ea"/>
              </a:rPr>
              <a:t>DAO (Data Access Objects): `</a:t>
            </a:r>
            <a:r>
              <a:rPr lang="en-US" altLang="zh-CN" sz="2000" dirty="0" err="1">
                <a:latin typeface="+mn-ea"/>
                <a:ea typeface="+mn-ea"/>
              </a:rPr>
              <a:t>MediaDAO</a:t>
            </a:r>
            <a:r>
              <a:rPr lang="en-US" altLang="zh-CN" sz="2000" dirty="0">
                <a:latin typeface="+mn-ea"/>
                <a:ea typeface="+mn-ea"/>
              </a:rPr>
              <a:t>`, `</a:t>
            </a:r>
            <a:r>
              <a:rPr lang="en-US" altLang="zh-CN" sz="2000" dirty="0" err="1">
                <a:latin typeface="+mn-ea"/>
                <a:ea typeface="+mn-ea"/>
              </a:rPr>
              <a:t>FolderDAO</a:t>
            </a:r>
            <a:r>
              <a:rPr lang="en-US" altLang="zh-CN" sz="2000" dirty="0">
                <a:latin typeface="+mn-ea"/>
                <a:ea typeface="+mn-ea"/>
              </a:rPr>
              <a:t>`, `</a:t>
            </a:r>
            <a:r>
              <a:rPr lang="en-US" altLang="zh-CN" sz="2000" dirty="0" err="1">
                <a:latin typeface="+mn-ea"/>
                <a:ea typeface="+mn-ea"/>
              </a:rPr>
              <a:t>DeviceDAO</a:t>
            </a:r>
            <a:r>
              <a:rPr lang="en-US" altLang="zh-CN" sz="2000" dirty="0">
                <a:latin typeface="+mn-ea"/>
                <a:ea typeface="+mn-ea"/>
              </a:rPr>
              <a:t>`</a:t>
            </a:r>
            <a:r>
              <a:rPr lang="zh-CN" altLang="en-US" sz="2000" dirty="0">
                <a:latin typeface="+mn-ea"/>
                <a:ea typeface="+mn-ea"/>
              </a:rPr>
              <a:t>。</a:t>
            </a:r>
          </a:p>
          <a:p>
            <a:endParaRPr lang="zh-CN" altLang="en-US" sz="2000" b="1" dirty="0">
              <a:latin typeface="+mn-ea"/>
              <a:ea typeface="+mn-ea"/>
            </a:endParaRPr>
          </a:p>
          <a:p>
            <a:pPr>
              <a:buNone/>
            </a:pPr>
            <a:endParaRPr lang="zh-CN" altLang="en-US" sz="2000" b="1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817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D86E3-3C24-D0B2-AEA1-6323C77A8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8">
            <a:extLst>
              <a:ext uri="{FF2B5EF4-FFF2-40B4-BE49-F238E27FC236}">
                <a16:creationId xmlns:a16="http://schemas.microsoft.com/office/drawing/2014/main" id="{3AE39B25-C67C-034A-AEE8-8540C3F977B0}"/>
              </a:ext>
            </a:extLst>
          </p:cNvPr>
          <p:cNvSpPr txBox="1"/>
          <p:nvPr/>
        </p:nvSpPr>
        <p:spPr>
          <a:xfrm>
            <a:off x="812751" y="87933"/>
            <a:ext cx="3949155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界面原型设计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9BEB078-1278-094E-EB0A-91AEC981A6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133" y="6198107"/>
            <a:ext cx="1099536" cy="101786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B8A676B-92B4-E367-43DB-5FB0C92C27B3}"/>
              </a:ext>
            </a:extLst>
          </p:cNvPr>
          <p:cNvSpPr txBox="1"/>
          <p:nvPr/>
        </p:nvSpPr>
        <p:spPr>
          <a:xfrm>
            <a:off x="690984" y="518871"/>
            <a:ext cx="11476781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  <a:ea typeface="+mn-ea"/>
              </a:rPr>
              <a:t>主界面布局参考了</a:t>
            </a:r>
            <a:r>
              <a:rPr lang="en-US" altLang="zh-CN" sz="2000" b="1" dirty="0" err="1">
                <a:latin typeface="+mn-ea"/>
                <a:ea typeface="+mn-ea"/>
              </a:rPr>
              <a:t>windos</a:t>
            </a:r>
            <a:r>
              <a:rPr lang="zh-CN" altLang="en-US" sz="2000" b="1" dirty="0">
                <a:latin typeface="+mn-ea"/>
                <a:ea typeface="+mn-ea"/>
              </a:rPr>
              <a:t>的资源管理器，包括以下几个部分</a:t>
            </a:r>
            <a:endParaRPr lang="en-US" altLang="zh-CN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左侧边栏 </a:t>
            </a:r>
            <a:r>
              <a:rPr lang="en-US" altLang="zh-CN" sz="2000" b="1" dirty="0">
                <a:latin typeface="+mn-ea"/>
                <a:ea typeface="+mn-ea"/>
              </a:rPr>
              <a:t>(Sidebar):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库 </a:t>
            </a:r>
            <a:r>
              <a:rPr lang="en-US" altLang="zh-CN" sz="2000" b="1" dirty="0">
                <a:latin typeface="+mn-ea"/>
                <a:ea typeface="+mn-ea"/>
              </a:rPr>
              <a:t>(Library): "</a:t>
            </a:r>
            <a:r>
              <a:rPr lang="zh-CN" altLang="en-US" sz="2000" b="1" dirty="0">
                <a:latin typeface="+mn-ea"/>
                <a:ea typeface="+mn-ea"/>
              </a:rPr>
              <a:t>所有项目</a:t>
            </a:r>
            <a:r>
              <a:rPr lang="en-US" altLang="zh-CN" sz="2000" b="1" dirty="0">
                <a:latin typeface="+mn-ea"/>
                <a:ea typeface="+mn-ea"/>
              </a:rPr>
              <a:t>", "</a:t>
            </a:r>
            <a:r>
              <a:rPr lang="zh-CN" altLang="en-US" sz="2000" b="1" dirty="0">
                <a:latin typeface="+mn-ea"/>
                <a:ea typeface="+mn-ea"/>
              </a:rPr>
              <a:t>最近添加</a:t>
            </a:r>
            <a:r>
              <a:rPr lang="en-US" altLang="zh-CN" sz="2000" b="1" dirty="0">
                <a:latin typeface="+mn-ea"/>
                <a:ea typeface="+mn-ea"/>
              </a:rPr>
              <a:t>", "Web</a:t>
            </a:r>
            <a:r>
              <a:rPr lang="zh-CN" altLang="en-US" sz="2000" b="1" dirty="0">
                <a:latin typeface="+mn-ea"/>
                <a:ea typeface="+mn-ea"/>
              </a:rPr>
              <a:t>资源</a:t>
            </a:r>
            <a:r>
              <a:rPr lang="en-US" altLang="zh-CN" sz="2000" b="1" dirty="0">
                <a:latin typeface="+mn-ea"/>
                <a:ea typeface="+mn-ea"/>
              </a:rPr>
              <a:t>", "</a:t>
            </a:r>
            <a:r>
              <a:rPr lang="zh-CN" altLang="en-US" sz="2000" b="1" dirty="0">
                <a:latin typeface="+mn-ea"/>
                <a:ea typeface="+mn-ea"/>
              </a:rPr>
              <a:t>本地文件</a:t>
            </a:r>
            <a:r>
              <a:rPr lang="en-US" altLang="zh-CN" sz="2000" b="1" dirty="0">
                <a:latin typeface="+mn-ea"/>
                <a:ea typeface="+mn-ea"/>
              </a:rPr>
              <a:t>".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文件夹 </a:t>
            </a:r>
            <a:r>
              <a:rPr lang="en-US" altLang="zh-CN" sz="2000" b="1" dirty="0">
                <a:latin typeface="+mn-ea"/>
                <a:ea typeface="+mn-ea"/>
              </a:rPr>
              <a:t>(Folders): </a:t>
            </a:r>
            <a:r>
              <a:rPr lang="zh-CN" altLang="en-US" sz="2000" b="1" dirty="0">
                <a:latin typeface="+mn-ea"/>
                <a:ea typeface="+mn-ea"/>
              </a:rPr>
              <a:t>树形结构的虚拟文件夹导航，支持右键新建</a:t>
            </a:r>
            <a:r>
              <a:rPr lang="en-US" altLang="zh-CN" sz="2000" b="1" dirty="0">
                <a:latin typeface="+mn-ea"/>
                <a:ea typeface="+mn-ea"/>
              </a:rPr>
              <a:t>/</a:t>
            </a:r>
            <a:r>
              <a:rPr lang="zh-CN" altLang="en-US" sz="2000" b="1" dirty="0">
                <a:latin typeface="+mn-ea"/>
                <a:ea typeface="+mn-ea"/>
              </a:rPr>
              <a:t>重命名。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设备 </a:t>
            </a:r>
            <a:r>
              <a:rPr lang="en-US" altLang="zh-CN" sz="2000" b="1" dirty="0">
                <a:latin typeface="+mn-ea"/>
                <a:ea typeface="+mn-ea"/>
              </a:rPr>
              <a:t>(Devices)**: </a:t>
            </a:r>
            <a:r>
              <a:rPr lang="zh-CN" altLang="en-US" sz="2000" b="1" dirty="0">
                <a:latin typeface="+mn-ea"/>
                <a:ea typeface="+mn-ea"/>
              </a:rPr>
              <a:t>显示已配对设备列表及在线状态 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zh-CN" altLang="en-US" sz="2000" b="1" dirty="0">
                <a:latin typeface="+mn-ea"/>
                <a:ea typeface="+mn-ea"/>
              </a:rPr>
              <a:t>🟢</a:t>
            </a:r>
            <a:r>
              <a:rPr lang="en-US" altLang="zh-CN" sz="2000" b="1" dirty="0">
                <a:latin typeface="+mn-ea"/>
                <a:ea typeface="+mn-ea"/>
              </a:rPr>
              <a:t>/⚪)</a:t>
            </a:r>
            <a:r>
              <a:rPr lang="zh-CN" altLang="en-US" sz="2000" b="1" dirty="0">
                <a:latin typeface="+mn-ea"/>
                <a:ea typeface="+mn-ea"/>
              </a:rPr>
              <a:t>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中间内容区 </a:t>
            </a:r>
            <a:r>
              <a:rPr lang="en-US" altLang="zh-CN" sz="2000" b="1" dirty="0">
                <a:latin typeface="+mn-ea"/>
                <a:ea typeface="+mn-ea"/>
              </a:rPr>
              <a:t>(Main Content):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顶部工具栏**</a:t>
            </a:r>
            <a:r>
              <a:rPr lang="en-US" altLang="zh-CN" sz="2000" b="1" dirty="0">
                <a:latin typeface="+mn-ea"/>
                <a:ea typeface="+mn-ea"/>
              </a:rPr>
              <a:t>: </a:t>
            </a:r>
            <a:r>
              <a:rPr lang="zh-CN" altLang="en-US" sz="2000" b="1" dirty="0">
                <a:latin typeface="+mn-ea"/>
                <a:ea typeface="+mn-ea"/>
              </a:rPr>
              <a:t>搜索框 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zh-CN" altLang="en-US" sz="2000" b="1" dirty="0">
                <a:latin typeface="+mn-ea"/>
                <a:ea typeface="+mn-ea"/>
              </a:rPr>
              <a:t>支持 </a:t>
            </a:r>
            <a:r>
              <a:rPr lang="en-US" altLang="zh-CN" sz="2000" b="1" dirty="0">
                <a:latin typeface="+mn-ea"/>
                <a:ea typeface="+mn-ea"/>
              </a:rPr>
              <a:t>`tag:</a:t>
            </a:r>
            <a:r>
              <a:rPr lang="zh-CN" altLang="en-US" sz="2000" b="1" dirty="0">
                <a:latin typeface="+mn-ea"/>
                <a:ea typeface="+mn-ea"/>
              </a:rPr>
              <a:t>旅行</a:t>
            </a:r>
            <a:r>
              <a:rPr lang="en-US" altLang="zh-CN" sz="2000" b="1" dirty="0">
                <a:latin typeface="+mn-ea"/>
                <a:ea typeface="+mn-ea"/>
              </a:rPr>
              <a:t>`</a:t>
            </a:r>
            <a:r>
              <a:rPr lang="zh-CN" altLang="en-US" sz="2000" b="1" dirty="0">
                <a:latin typeface="+mn-ea"/>
                <a:ea typeface="+mn-ea"/>
              </a:rPr>
              <a:t> 语法</a:t>
            </a:r>
            <a:r>
              <a:rPr lang="en-US" altLang="zh-CN" sz="2000" b="1" dirty="0">
                <a:latin typeface="+mn-ea"/>
                <a:ea typeface="+mn-ea"/>
              </a:rPr>
              <a:t>), </a:t>
            </a:r>
            <a:r>
              <a:rPr lang="zh-CN" altLang="en-US" sz="2000" b="1" dirty="0">
                <a:latin typeface="+mn-ea"/>
                <a:ea typeface="+mn-ea"/>
              </a:rPr>
              <a:t>排序按钮</a:t>
            </a:r>
            <a:r>
              <a:rPr lang="en-US" altLang="zh-CN" sz="2000" b="1" dirty="0">
                <a:latin typeface="+mn-ea"/>
                <a:ea typeface="+mn-ea"/>
              </a:rPr>
              <a:t>, </a:t>
            </a:r>
            <a:r>
              <a:rPr lang="zh-CN" altLang="en-US" sz="2000" b="1" dirty="0">
                <a:latin typeface="+mn-ea"/>
                <a:ea typeface="+mn-ea"/>
              </a:rPr>
              <a:t>视图切换</a:t>
            </a:r>
            <a:r>
              <a:rPr lang="en-US" altLang="zh-CN" sz="2000" b="1" dirty="0">
                <a:latin typeface="+mn-ea"/>
                <a:ea typeface="+mn-ea"/>
              </a:rPr>
              <a:t>.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列表区</a:t>
            </a:r>
            <a:r>
              <a:rPr lang="en-US" altLang="zh-CN" sz="2000" b="1" dirty="0">
                <a:latin typeface="+mn-ea"/>
                <a:ea typeface="+mn-ea"/>
              </a:rPr>
              <a:t>: </a:t>
            </a:r>
            <a:r>
              <a:rPr lang="zh-CN" altLang="en-US" sz="2000" b="1" dirty="0">
                <a:latin typeface="+mn-ea"/>
                <a:ea typeface="+mn-ea"/>
              </a:rPr>
              <a:t>表格或网格展示。列包含：图标、标题、大小、标签、所在位置</a:t>
            </a:r>
            <a:r>
              <a:rPr lang="en-US" altLang="zh-CN" sz="2000" b="1" dirty="0">
                <a:latin typeface="+mn-ea"/>
                <a:ea typeface="+mn-ea"/>
              </a:rPr>
              <a:t>(Local/Web).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右侧详情栏 </a:t>
            </a:r>
            <a:r>
              <a:rPr lang="en-US" altLang="zh-CN" sz="2000" b="1" dirty="0">
                <a:latin typeface="+mn-ea"/>
                <a:ea typeface="+mn-ea"/>
              </a:rPr>
              <a:t>(Inspector):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选中项目的详细信息：预览图、完整路径</a:t>
            </a:r>
            <a:r>
              <a:rPr lang="en-US" altLang="zh-CN" sz="2000" b="1" dirty="0">
                <a:latin typeface="+mn-ea"/>
                <a:ea typeface="+mn-ea"/>
              </a:rPr>
              <a:t>/URL (</a:t>
            </a:r>
            <a:r>
              <a:rPr lang="zh-CN" altLang="en-US" sz="2000" b="1" dirty="0">
                <a:latin typeface="+mn-ea"/>
                <a:ea typeface="+mn-ea"/>
              </a:rPr>
              <a:t>支持点击打开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r>
              <a:rPr lang="zh-CN" altLang="en-US" sz="2000" b="1" dirty="0">
                <a:latin typeface="+mn-ea"/>
                <a:ea typeface="+mn-ea"/>
              </a:rPr>
              <a:t>、备注编辑区、标签管理。</a:t>
            </a:r>
          </a:p>
          <a:p>
            <a:endParaRPr lang="en-US" altLang="zh-CN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以及资源录入弹窗：</a:t>
            </a:r>
            <a:endParaRPr lang="en-US" altLang="zh-CN" sz="2000" b="1" dirty="0">
              <a:latin typeface="+mn-ea"/>
              <a:ea typeface="+mn-ea"/>
            </a:endParaRPr>
          </a:p>
          <a:p>
            <a:r>
              <a:rPr lang="zh-CN" altLang="en-US" sz="2000" b="1" dirty="0">
                <a:latin typeface="+mn-ea"/>
                <a:ea typeface="+mn-ea"/>
              </a:rPr>
              <a:t>源</a:t>
            </a:r>
            <a:r>
              <a:rPr lang="en-US" altLang="zh-CN" sz="2000" b="1" dirty="0">
                <a:latin typeface="+mn-ea"/>
                <a:ea typeface="+mn-ea"/>
              </a:rPr>
              <a:t>: </a:t>
            </a:r>
            <a:r>
              <a:rPr lang="zh-CN" altLang="en-US" sz="2000" b="1" dirty="0">
                <a:latin typeface="+mn-ea"/>
                <a:ea typeface="+mn-ea"/>
              </a:rPr>
              <a:t>文件路径选择器 或 </a:t>
            </a:r>
            <a:r>
              <a:rPr lang="en-US" altLang="zh-CN" sz="2000" b="1" dirty="0">
                <a:latin typeface="+mn-ea"/>
                <a:ea typeface="+mn-ea"/>
              </a:rPr>
              <a:t>URL </a:t>
            </a:r>
            <a:r>
              <a:rPr lang="zh-CN" altLang="en-US" sz="2000" b="1" dirty="0">
                <a:latin typeface="+mn-ea"/>
                <a:ea typeface="+mn-ea"/>
              </a:rPr>
              <a:t>输入框。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标题</a:t>
            </a:r>
            <a:r>
              <a:rPr lang="en-US" altLang="zh-CN" sz="2000" b="1" dirty="0">
                <a:latin typeface="+mn-ea"/>
                <a:ea typeface="+mn-ea"/>
              </a:rPr>
              <a:t>:</a:t>
            </a:r>
            <a:r>
              <a:rPr lang="zh-CN" altLang="en-US" sz="2000" b="1" dirty="0">
                <a:latin typeface="+mn-ea"/>
                <a:ea typeface="+mn-ea"/>
              </a:rPr>
              <a:t>默认文件名，可手动修改。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位置</a:t>
            </a:r>
            <a:r>
              <a:rPr lang="en-US" altLang="zh-CN" sz="2000" b="1" dirty="0">
                <a:latin typeface="+mn-ea"/>
                <a:ea typeface="+mn-ea"/>
              </a:rPr>
              <a:t>:</a:t>
            </a:r>
            <a:r>
              <a:rPr lang="zh-CN" altLang="en-US" sz="2000" b="1" dirty="0">
                <a:latin typeface="+mn-ea"/>
                <a:ea typeface="+mn-ea"/>
              </a:rPr>
              <a:t>下拉树选择所属虚拟文件夹。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标签</a:t>
            </a:r>
            <a:r>
              <a:rPr lang="en-US" altLang="zh-CN" sz="2000" b="1" dirty="0">
                <a:latin typeface="+mn-ea"/>
                <a:ea typeface="+mn-ea"/>
              </a:rPr>
              <a:t>:</a:t>
            </a:r>
            <a:r>
              <a:rPr lang="zh-CN" altLang="en-US" sz="2000" b="1" dirty="0">
                <a:latin typeface="+mn-ea"/>
                <a:ea typeface="+mn-ea"/>
              </a:rPr>
              <a:t>输入框 </a:t>
            </a:r>
            <a:r>
              <a:rPr lang="en-US" altLang="zh-CN" sz="2000" b="1" dirty="0">
                <a:latin typeface="+mn-ea"/>
                <a:ea typeface="+mn-ea"/>
              </a:rPr>
              <a:t>+ </a:t>
            </a:r>
            <a:r>
              <a:rPr lang="zh-CN" altLang="en-US" sz="2000" b="1" dirty="0">
                <a:latin typeface="+mn-ea"/>
                <a:ea typeface="+mn-ea"/>
              </a:rPr>
              <a:t>历史标签自动补全。</a:t>
            </a:r>
          </a:p>
          <a:p>
            <a:r>
              <a:rPr lang="zh-CN" altLang="en-US" sz="2000" b="1" dirty="0">
                <a:latin typeface="+mn-ea"/>
                <a:ea typeface="+mn-ea"/>
              </a:rPr>
              <a:t>备注</a:t>
            </a:r>
            <a:r>
              <a:rPr lang="en-US" altLang="zh-CN" sz="2000" b="1" dirty="0">
                <a:latin typeface="+mn-ea"/>
                <a:ea typeface="+mn-ea"/>
              </a:rPr>
              <a:t>:</a:t>
            </a:r>
            <a:r>
              <a:rPr lang="zh-CN" altLang="en-US" sz="2000" b="1" dirty="0">
                <a:latin typeface="+mn-ea"/>
                <a:ea typeface="+mn-ea"/>
              </a:rPr>
              <a:t>多行文本域，用于记录账号信息等。</a:t>
            </a:r>
          </a:p>
          <a:p>
            <a:endParaRPr lang="zh-CN" altLang="en-US" sz="2000" b="1" dirty="0">
              <a:latin typeface="+mn-ea"/>
              <a:ea typeface="+mn-ea"/>
            </a:endParaRPr>
          </a:p>
          <a:p>
            <a:pPr>
              <a:buNone/>
            </a:pPr>
            <a:endParaRPr lang="zh-CN" altLang="en-US" sz="2000" b="1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图片 3" descr="图形用户界面, 文本, 应用程序, 电子邮件, Teams&#10;&#10;AI 生成的内容可能不正确。">
            <a:extLst>
              <a:ext uri="{FF2B5EF4-FFF2-40B4-BE49-F238E27FC236}">
                <a16:creationId xmlns:a16="http://schemas.microsoft.com/office/drawing/2014/main" id="{08CCC472-6918-7451-D59B-0A3F3D111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628" y="613150"/>
            <a:ext cx="10844904" cy="594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299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4048373"/>
            <a:ext cx="12858750" cy="31842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矩形 259"/>
          <p:cNvSpPr>
            <a:spLocks noChangeArrowheads="1"/>
          </p:cNvSpPr>
          <p:nvPr/>
        </p:nvSpPr>
        <p:spPr bwMode="auto">
          <a:xfrm>
            <a:off x="3162300" y="4549611"/>
            <a:ext cx="6534150" cy="176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11500" cap="all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Thank you</a:t>
            </a:r>
            <a:endParaRPr lang="zh-CN" altLang="en-US" sz="11500" cap="all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-6742"/>
            <a:ext cx="12858750" cy="4082670"/>
          </a:xfrm>
          <a:prstGeom prst="rect">
            <a:avLst/>
          </a:prstGeom>
          <a:solidFill>
            <a:schemeClr val="accent2"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5179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0">
        <p15:prstTrans prst="fractur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/>
      <p:bldP spid="11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SCORM_PASSING_SCORE" val="100.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13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YinZJG#"/>
  <p:tag name="MH_LAYOUT" val="TitleSubTitle"/>
  <p:tag name="MH" val="20161022181333"/>
  <p:tag name="MH_LIBRARY" val="GRAPHIC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81333"/>
  <p:tag name="MH_LIBRARY" val="GRAPHIC"/>
  <p:tag name="MH_TYPE" val="SubTitle"/>
  <p:tag name="MH_ORDER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81333"/>
  <p:tag name="MH_LIBRARY" val="GRAPHIC"/>
  <p:tag name="MH_TYPE" val="Other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81333"/>
  <p:tag name="MH_LIBRARY" val="GRAPHIC"/>
  <p:tag name="MH_TYPE" val="Other"/>
  <p:tag name="MH_ORDER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81333"/>
  <p:tag name="MH_LIBRARY" val="GRAPHIC"/>
  <p:tag name="MH_TYPE" val="Other"/>
  <p:tag name="MH_ORDER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81333"/>
  <p:tag name="MH_LIBRARY" val="GRAPHIC"/>
  <p:tag name="MH_TYPE" val="Other"/>
  <p:tag name="MH_ORDER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81333"/>
  <p:tag name="MH_LIBRARY" val="GRAPHIC"/>
  <p:tag name="MH_TYPE" val="SubTitle"/>
  <p:tag name="MH_ORDE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81333"/>
  <p:tag name="MH_LIBRARY" val="GRAPHIC"/>
  <p:tag name="MH_TYPE" val="SubTitle"/>
  <p:tag name="MH_ORDER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81333"/>
  <p:tag name="MH_LIBRARY" val="GRAPHIC"/>
  <p:tag name="MH_TYPE" val="SubTitle"/>
  <p:tag name="MH_ORDER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81333"/>
  <p:tag name="MH_LIBRARY" val="GRAPHIC"/>
  <p:tag name="MH_TYPE" val="Other"/>
  <p:tag name="MH_ORDER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81333"/>
  <p:tag name="MH_LIBRARY" val="GRAPHIC"/>
  <p:tag name="MH_TYPE" val="Title"/>
  <p:tag name="MH_ORDER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81333"/>
  <p:tag name="MH_LIBRARY" val="GRAPHIC"/>
  <p:tag name="MH_TYPE" val="Other"/>
  <p:tag name="MH_ORDER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81333"/>
  <p:tag name="MH_LIBRARY" val="GRAPHIC"/>
  <p:tag name="MH_TYPE" val="SubTitle"/>
  <p:tag name="MH_ORDER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heme/theme1.xml><?xml version="1.0" encoding="utf-8"?>
<a:theme xmlns:a="http://schemas.openxmlformats.org/drawingml/2006/main" name="自定义设计方案">
  <a:themeElements>
    <a:clrScheme name="自定义 4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358"/>
      </a:accent1>
      <a:accent2>
        <a:srgbClr val="18B29D"/>
      </a:accent2>
      <a:accent3>
        <a:srgbClr val="004358"/>
      </a:accent3>
      <a:accent4>
        <a:srgbClr val="18B29D"/>
      </a:accent4>
      <a:accent5>
        <a:srgbClr val="004358"/>
      </a:accent5>
      <a:accent6>
        <a:srgbClr val="18B29D"/>
      </a:accent6>
      <a:hlink>
        <a:srgbClr val="004358"/>
      </a:hlink>
      <a:folHlink>
        <a:srgbClr val="18B29D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3679</Words>
  <Application>Microsoft Office PowerPoint</Application>
  <PresentationFormat>自定义</PresentationFormat>
  <Paragraphs>333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Consolas</vt:lpstr>
      <vt:lpstr>Impact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bt134</dc:title>
  <dc:creator/>
  <cp:lastModifiedBy/>
  <cp:revision>1</cp:revision>
  <dcterms:created xsi:type="dcterms:W3CDTF">2016-11-21T13:43:25Z</dcterms:created>
  <dcterms:modified xsi:type="dcterms:W3CDTF">2025-12-19T05:50:44Z</dcterms:modified>
</cp:coreProperties>
</file>